
<file path=[Content_Types].xml><?xml version="1.0" encoding="utf-8"?>
<Types xmlns="http://schemas.openxmlformats.org/package/2006/content-types">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 id="282" r:id="rId26"/>
    <p:sldId id="283"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autoAdjust="0"/>
    <p:restoredTop sz="94610"/>
  </p:normalViewPr>
  <p:slideViewPr>
    <p:cSldViewPr snapToGrid="0" snapToObjects="1">
      <p:cViewPr varScale="1">
        <p:scale>
          <a:sx n="117" d="100"/>
          <a:sy n="117" d="100"/>
        </p:scale>
        <p:origin x="200"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275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2E"/>
        </a:solidFill>
        <a:effectLst/>
      </p:bgPr>
    </p:bg>
    <p:spTree>
      <p:nvGrpSpPr>
        <p:cNvPr id="1" name=""/>
        <p:cNvGrpSpPr/>
        <p:nvPr/>
      </p:nvGrpSpPr>
      <p:grpSpPr>
        <a:xfrm>
          <a:off x="0" y="0"/>
          <a:ext cx="0" cy="0"/>
          <a:chOff x="0" y="0"/>
          <a:chExt cx="0" cy="0"/>
        </a:xfrm>
      </p:grpSpPr>
      <p:sp>
        <p:nvSpPr>
          <p:cNvPr id="2" name="Text 0"/>
          <p:cNvSpPr/>
          <p:nvPr/>
        </p:nvSpPr>
        <p:spPr>
          <a:xfrm>
            <a:off x="822960" y="1920240"/>
            <a:ext cx="10515600" cy="457200"/>
          </a:xfrm>
          <a:prstGeom prst="rect">
            <a:avLst/>
          </a:prstGeom>
          <a:noFill/>
          <a:ln/>
        </p:spPr>
        <p:txBody>
          <a:bodyPr wrap="square" lIns="0" tIns="0" rIns="0" bIns="0" rtlCol="0" anchor="ctr"/>
          <a:lstStyle/>
          <a:p>
            <a:pPr marL="0" indent="0">
              <a:buNone/>
            </a:pPr>
            <a:r>
              <a:rPr lang="en-US" sz="1400" kern="0" spc="200" dirty="0">
                <a:solidFill>
                  <a:srgbClr val="CFE0D2"/>
                </a:solidFill>
                <a:latin typeface="Calibri" pitchFamily="34" charset="0"/>
                <a:ea typeface="Calibri" pitchFamily="34" charset="-122"/>
                <a:cs typeface="Calibri" pitchFamily="34" charset="-120"/>
              </a:rPr>
              <a:t>TRIPLE-C  ·  NAVFARM IMPLEMENTATION</a:t>
            </a:r>
            <a:endParaRPr lang="en-US" sz="1400" dirty="0"/>
          </a:p>
        </p:txBody>
      </p:sp>
      <p:sp>
        <p:nvSpPr>
          <p:cNvPr id="3" name="Text 1"/>
          <p:cNvSpPr/>
          <p:nvPr/>
        </p:nvSpPr>
        <p:spPr>
          <a:xfrm>
            <a:off x="822960" y="2331720"/>
            <a:ext cx="1051560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Project Management Team</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Kick-Off Meeting</a:t>
            </a:r>
            <a:endParaRPr lang="en-US" sz="4000" dirty="0"/>
          </a:p>
        </p:txBody>
      </p:sp>
      <p:sp>
        <p:nvSpPr>
          <p:cNvPr id="4" name="Text 2"/>
          <p:cNvSpPr/>
          <p:nvPr/>
        </p:nvSpPr>
        <p:spPr>
          <a:xfrm>
            <a:off x="822960" y="4389120"/>
            <a:ext cx="7315200" cy="1188720"/>
          </a:xfrm>
          <a:prstGeom prst="rect">
            <a:avLst/>
          </a:prstGeom>
          <a:noFill/>
          <a:ln/>
        </p:spPr>
        <p:txBody>
          <a:bodyPr wrap="square" lIns="0" tIns="0" rIns="0" bIns="0" rtlCol="0" anchor="ctr"/>
          <a:lstStyle/>
          <a:p>
            <a:pPr marL="0" indent="0">
              <a:lnSpc>
                <a:spcPct val="140000"/>
              </a:lnSpc>
              <a:buNone/>
            </a:pPr>
            <a:r>
              <a:rPr lang="en-US" sz="1500" b="1" dirty="0">
                <a:solidFill>
                  <a:srgbClr val="CFE0D2"/>
                </a:solidFill>
                <a:latin typeface="Calibri" pitchFamily="34" charset="0"/>
                <a:ea typeface="Calibri" pitchFamily="34" charset="-122"/>
                <a:cs typeface="Calibri" pitchFamily="34" charset="-120"/>
              </a:rPr>
              <a:t>Date:  </a:t>
            </a:r>
            <a:r>
              <a:rPr lang="en-US" sz="1500" dirty="0">
                <a:solidFill>
                  <a:srgbClr val="FFFFFF"/>
                </a:solidFill>
                <a:latin typeface="Calibri" pitchFamily="34" charset="0"/>
                <a:ea typeface="Calibri" pitchFamily="34" charset="-122"/>
                <a:cs typeface="Calibri" pitchFamily="34" charset="-120"/>
              </a:rPr>
              <a:t>04 August 2026, 11:15
</a:t>
            </a:r>
            <a:r>
              <a:rPr lang="en-US" sz="1500" b="1" dirty="0">
                <a:solidFill>
                  <a:srgbClr val="CFE0D2"/>
                </a:solidFill>
                <a:latin typeface="Calibri" pitchFamily="34" charset="0"/>
                <a:ea typeface="Calibri" pitchFamily="34" charset="-122"/>
                <a:cs typeface="Calibri" pitchFamily="34" charset="-120"/>
              </a:rPr>
              <a:t>Chair:  </a:t>
            </a:r>
            <a:r>
              <a:rPr lang="en-US" sz="1500" dirty="0">
                <a:solidFill>
                  <a:srgbClr val="FFFFFF"/>
                </a:solidFill>
                <a:latin typeface="Calibri" pitchFamily="34" charset="0"/>
                <a:ea typeface="Calibri" pitchFamily="34" charset="-122"/>
                <a:cs typeface="Calibri" pitchFamily="34" charset="-120"/>
              </a:rPr>
              <a:t>Group Finance Director, Triple-C
</a:t>
            </a:r>
            <a:r>
              <a:rPr lang="en-US" sz="1500" b="1" dirty="0">
                <a:solidFill>
                  <a:srgbClr val="CFE0D2"/>
                </a:solidFill>
                <a:latin typeface="Calibri" pitchFamily="34" charset="0"/>
                <a:ea typeface="Calibri" pitchFamily="34" charset="-122"/>
                <a:cs typeface="Calibri" pitchFamily="34" charset="-120"/>
              </a:rPr>
              <a:t>Duration:  </a:t>
            </a:r>
            <a:r>
              <a:rPr lang="en-US" sz="1500" dirty="0">
                <a:solidFill>
                  <a:srgbClr val="FFFFFF"/>
                </a:solidFill>
                <a:latin typeface="Calibri" pitchFamily="34" charset="0"/>
                <a:ea typeface="Calibri" pitchFamily="34" charset="-122"/>
                <a:cs typeface="Calibri" pitchFamily="34" charset="-120"/>
              </a:rPr>
              <a:t>60 minutes</a:t>
            </a:r>
            <a:endParaRPr lang="en-US" sz="1500" dirty="0"/>
          </a:p>
        </p:txBody>
      </p:sp>
      <p:sp>
        <p:nvSpPr>
          <p:cNvPr id="5" name="Text 3"/>
          <p:cNvSpPr/>
          <p:nvPr/>
        </p:nvSpPr>
        <p:spPr>
          <a:xfrm>
            <a:off x="822960" y="6217920"/>
            <a:ext cx="7315200" cy="320040"/>
          </a:xfrm>
          <a:prstGeom prst="rect">
            <a:avLst/>
          </a:prstGeom>
          <a:noFill/>
          <a:ln/>
        </p:spPr>
        <p:txBody>
          <a:bodyPr wrap="square" lIns="0" tIns="0" rIns="0" bIns="0" rtlCol="0" anchor="ctr"/>
          <a:lstStyle/>
          <a:p>
            <a:pPr marL="0" indent="0">
              <a:buNone/>
            </a:pPr>
            <a:r>
              <a:rPr lang="en-US" sz="1100" dirty="0">
                <a:solidFill>
                  <a:srgbClr val="9FB9A4"/>
                </a:solidFill>
                <a:latin typeface="Calibri" pitchFamily="34" charset="0"/>
                <a:ea typeface="Calibri" pitchFamily="34" charset="-122"/>
                <a:cs typeface="Calibri" pitchFamily="34" charset="-120"/>
              </a:rPr>
              <a:t>Prepared by Prudence Consulting for Triple-C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Meeting Agenda</a:t>
            </a:r>
            <a:endParaRPr lang="en-US" sz="2400" dirty="0"/>
          </a:p>
        </p:txBody>
      </p:sp>
      <p:sp>
        <p:nvSpPr>
          <p:cNvPr id="3" name="Text 1"/>
          <p:cNvSpPr/>
          <p:nvPr/>
        </p:nvSpPr>
        <p:spPr>
          <a:xfrm>
            <a:off x="548640" y="1508760"/>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1</a:t>
            </a:r>
            <a:endParaRPr lang="en-US" sz="1500" dirty="0"/>
          </a:p>
        </p:txBody>
      </p:sp>
      <p:sp>
        <p:nvSpPr>
          <p:cNvPr id="4" name="Text 2"/>
          <p:cNvSpPr/>
          <p:nvPr/>
        </p:nvSpPr>
        <p:spPr>
          <a:xfrm>
            <a:off x="1097280" y="1508760"/>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Welcome &amp; Introductions</a:t>
            </a:r>
            <a:endParaRPr lang="en-US" sz="1450" dirty="0"/>
          </a:p>
        </p:txBody>
      </p:sp>
      <p:sp>
        <p:nvSpPr>
          <p:cNvPr id="5" name="Text 3"/>
          <p:cNvSpPr/>
          <p:nvPr/>
        </p:nvSpPr>
        <p:spPr>
          <a:xfrm>
            <a:off x="8961120" y="1508760"/>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GFD</a:t>
            </a:r>
            <a:endParaRPr lang="en-US" sz="1200" dirty="0"/>
          </a:p>
        </p:txBody>
      </p:sp>
      <p:sp>
        <p:nvSpPr>
          <p:cNvPr id="6" name="Shape 4"/>
          <p:cNvSpPr/>
          <p:nvPr/>
        </p:nvSpPr>
        <p:spPr>
          <a:xfrm>
            <a:off x="548640" y="1993392"/>
            <a:ext cx="11064240" cy="0"/>
          </a:xfrm>
          <a:prstGeom prst="line">
            <a:avLst/>
          </a:prstGeom>
          <a:noFill/>
          <a:ln w="9525">
            <a:solidFill>
              <a:srgbClr val="D9D9D4"/>
            </a:solidFill>
            <a:prstDash val="solid"/>
          </a:ln>
        </p:spPr>
      </p:sp>
      <p:sp>
        <p:nvSpPr>
          <p:cNvPr id="7" name="Text 5"/>
          <p:cNvSpPr/>
          <p:nvPr/>
        </p:nvSpPr>
        <p:spPr>
          <a:xfrm>
            <a:off x="548640" y="1993392"/>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2</a:t>
            </a:r>
            <a:endParaRPr lang="en-US" sz="1500" dirty="0"/>
          </a:p>
        </p:txBody>
      </p:sp>
      <p:sp>
        <p:nvSpPr>
          <p:cNvPr id="8" name="Text 6"/>
          <p:cNvSpPr/>
          <p:nvPr/>
        </p:nvSpPr>
        <p:spPr>
          <a:xfrm>
            <a:off x="1097280" y="1993392"/>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Project Goals &amp; Implementation Methodology</a:t>
            </a:r>
            <a:endParaRPr lang="en-US" sz="1450" dirty="0"/>
          </a:p>
        </p:txBody>
      </p:sp>
      <p:sp>
        <p:nvSpPr>
          <p:cNvPr id="9" name="Text 7"/>
          <p:cNvSpPr/>
          <p:nvPr/>
        </p:nvSpPr>
        <p:spPr>
          <a:xfrm>
            <a:off x="8961120" y="1993392"/>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Prudence</a:t>
            </a:r>
            <a:endParaRPr lang="en-US" sz="1200" dirty="0"/>
          </a:p>
        </p:txBody>
      </p:sp>
      <p:sp>
        <p:nvSpPr>
          <p:cNvPr id="10" name="Shape 8"/>
          <p:cNvSpPr/>
          <p:nvPr/>
        </p:nvSpPr>
        <p:spPr>
          <a:xfrm>
            <a:off x="548640" y="2478024"/>
            <a:ext cx="11064240" cy="0"/>
          </a:xfrm>
          <a:prstGeom prst="line">
            <a:avLst/>
          </a:prstGeom>
          <a:noFill/>
          <a:ln w="9525">
            <a:solidFill>
              <a:srgbClr val="D9D9D4"/>
            </a:solidFill>
            <a:prstDash val="solid"/>
          </a:ln>
        </p:spPr>
      </p:sp>
      <p:sp>
        <p:nvSpPr>
          <p:cNvPr id="11" name="Text 9"/>
          <p:cNvSpPr/>
          <p:nvPr/>
        </p:nvSpPr>
        <p:spPr>
          <a:xfrm>
            <a:off x="548640" y="2478024"/>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097280" y="2478024"/>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Project Scope and Deliverables</a:t>
            </a:r>
            <a:endParaRPr lang="en-US" sz="1450" dirty="0"/>
          </a:p>
        </p:txBody>
      </p:sp>
      <p:sp>
        <p:nvSpPr>
          <p:cNvPr id="13" name="Text 11"/>
          <p:cNvSpPr/>
          <p:nvPr/>
        </p:nvSpPr>
        <p:spPr>
          <a:xfrm>
            <a:off x="8961120" y="2478024"/>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Prudence</a:t>
            </a:r>
            <a:endParaRPr lang="en-US" sz="1200" dirty="0"/>
          </a:p>
        </p:txBody>
      </p:sp>
      <p:sp>
        <p:nvSpPr>
          <p:cNvPr id="14" name="Shape 12"/>
          <p:cNvSpPr/>
          <p:nvPr/>
        </p:nvSpPr>
        <p:spPr>
          <a:xfrm>
            <a:off x="548640" y="2962656"/>
            <a:ext cx="11064240" cy="0"/>
          </a:xfrm>
          <a:prstGeom prst="line">
            <a:avLst/>
          </a:prstGeom>
          <a:noFill/>
          <a:ln w="9525">
            <a:solidFill>
              <a:srgbClr val="D9D9D4"/>
            </a:solidFill>
            <a:prstDash val="solid"/>
          </a:ln>
        </p:spPr>
      </p:sp>
      <p:sp>
        <p:nvSpPr>
          <p:cNvPr id="15" name="Text 13"/>
          <p:cNvSpPr/>
          <p:nvPr/>
        </p:nvSpPr>
        <p:spPr>
          <a:xfrm>
            <a:off x="548640" y="2962656"/>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4</a:t>
            </a:r>
            <a:endParaRPr lang="en-US" sz="1500" dirty="0"/>
          </a:p>
        </p:txBody>
      </p:sp>
      <p:sp>
        <p:nvSpPr>
          <p:cNvPr id="16" name="Text 14"/>
          <p:cNvSpPr/>
          <p:nvPr/>
        </p:nvSpPr>
        <p:spPr>
          <a:xfrm>
            <a:off x="1097280" y="2962656"/>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Implementation Roadmap and Milestones</a:t>
            </a:r>
            <a:endParaRPr lang="en-US" sz="1450" dirty="0"/>
          </a:p>
        </p:txBody>
      </p:sp>
      <p:sp>
        <p:nvSpPr>
          <p:cNvPr id="17" name="Text 15"/>
          <p:cNvSpPr/>
          <p:nvPr/>
        </p:nvSpPr>
        <p:spPr>
          <a:xfrm>
            <a:off x="8961120" y="2962656"/>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Prudence</a:t>
            </a:r>
            <a:endParaRPr lang="en-US" sz="1200" dirty="0"/>
          </a:p>
        </p:txBody>
      </p:sp>
      <p:sp>
        <p:nvSpPr>
          <p:cNvPr id="18" name="Shape 16"/>
          <p:cNvSpPr/>
          <p:nvPr/>
        </p:nvSpPr>
        <p:spPr>
          <a:xfrm>
            <a:off x="548640" y="3447288"/>
            <a:ext cx="11064240" cy="0"/>
          </a:xfrm>
          <a:prstGeom prst="line">
            <a:avLst/>
          </a:prstGeom>
          <a:noFill/>
          <a:ln w="9525">
            <a:solidFill>
              <a:srgbClr val="D9D9D4"/>
            </a:solidFill>
            <a:prstDash val="solid"/>
          </a:ln>
        </p:spPr>
      </p:sp>
      <p:sp>
        <p:nvSpPr>
          <p:cNvPr id="19" name="Text 17"/>
          <p:cNvSpPr/>
          <p:nvPr/>
        </p:nvSpPr>
        <p:spPr>
          <a:xfrm>
            <a:off x="548640" y="3447288"/>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5</a:t>
            </a:r>
            <a:endParaRPr lang="en-US" sz="1500" dirty="0"/>
          </a:p>
        </p:txBody>
      </p:sp>
      <p:sp>
        <p:nvSpPr>
          <p:cNvPr id="20" name="Text 18"/>
          <p:cNvSpPr/>
          <p:nvPr/>
        </p:nvSpPr>
        <p:spPr>
          <a:xfrm>
            <a:off x="1097280" y="3447288"/>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Roles, Governance and Communication</a:t>
            </a:r>
            <a:endParaRPr lang="en-US" sz="1450" dirty="0"/>
          </a:p>
        </p:txBody>
      </p:sp>
      <p:sp>
        <p:nvSpPr>
          <p:cNvPr id="21" name="Text 19"/>
          <p:cNvSpPr/>
          <p:nvPr/>
        </p:nvSpPr>
        <p:spPr>
          <a:xfrm>
            <a:off x="8961120" y="3447288"/>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GFD</a:t>
            </a:r>
            <a:endParaRPr lang="en-US" sz="1200" dirty="0"/>
          </a:p>
        </p:txBody>
      </p:sp>
      <p:sp>
        <p:nvSpPr>
          <p:cNvPr id="22" name="Shape 20"/>
          <p:cNvSpPr/>
          <p:nvPr/>
        </p:nvSpPr>
        <p:spPr>
          <a:xfrm>
            <a:off x="548640" y="3931920"/>
            <a:ext cx="11064240" cy="0"/>
          </a:xfrm>
          <a:prstGeom prst="line">
            <a:avLst/>
          </a:prstGeom>
          <a:noFill/>
          <a:ln w="9525">
            <a:solidFill>
              <a:srgbClr val="D9D9D4"/>
            </a:solidFill>
            <a:prstDash val="solid"/>
          </a:ln>
        </p:spPr>
      </p:sp>
      <p:sp>
        <p:nvSpPr>
          <p:cNvPr id="23" name="Text 21"/>
          <p:cNvSpPr/>
          <p:nvPr/>
        </p:nvSpPr>
        <p:spPr>
          <a:xfrm>
            <a:off x="548640" y="3931920"/>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6</a:t>
            </a:r>
            <a:endParaRPr lang="en-US" sz="1500" dirty="0"/>
          </a:p>
        </p:txBody>
      </p:sp>
      <p:sp>
        <p:nvSpPr>
          <p:cNvPr id="24" name="Text 22"/>
          <p:cNvSpPr/>
          <p:nvPr/>
        </p:nvSpPr>
        <p:spPr>
          <a:xfrm>
            <a:off x="1097280" y="3931920"/>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Operational Considerations and Risk Management</a:t>
            </a:r>
            <a:endParaRPr lang="en-US" sz="1450" dirty="0"/>
          </a:p>
        </p:txBody>
      </p:sp>
      <p:sp>
        <p:nvSpPr>
          <p:cNvPr id="25" name="Text 23"/>
          <p:cNvSpPr/>
          <p:nvPr/>
        </p:nvSpPr>
        <p:spPr>
          <a:xfrm>
            <a:off x="8961120" y="3931920"/>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Johan / John</a:t>
            </a:r>
            <a:endParaRPr lang="en-US" sz="1200" dirty="0"/>
          </a:p>
        </p:txBody>
      </p:sp>
      <p:sp>
        <p:nvSpPr>
          <p:cNvPr id="26" name="Shape 24"/>
          <p:cNvSpPr/>
          <p:nvPr/>
        </p:nvSpPr>
        <p:spPr>
          <a:xfrm>
            <a:off x="548640" y="4416552"/>
            <a:ext cx="11064240" cy="0"/>
          </a:xfrm>
          <a:prstGeom prst="line">
            <a:avLst/>
          </a:prstGeom>
          <a:noFill/>
          <a:ln w="9525">
            <a:solidFill>
              <a:srgbClr val="D9D9D4"/>
            </a:solidFill>
            <a:prstDash val="solid"/>
          </a:ln>
        </p:spPr>
      </p:sp>
      <p:sp>
        <p:nvSpPr>
          <p:cNvPr id="27" name="Text 25"/>
          <p:cNvSpPr/>
          <p:nvPr/>
        </p:nvSpPr>
        <p:spPr>
          <a:xfrm>
            <a:off x="548640" y="4416552"/>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7</a:t>
            </a:r>
            <a:endParaRPr lang="en-US" sz="1500" dirty="0"/>
          </a:p>
        </p:txBody>
      </p:sp>
      <p:sp>
        <p:nvSpPr>
          <p:cNvPr id="28" name="Text 26"/>
          <p:cNvSpPr/>
          <p:nvPr/>
        </p:nvSpPr>
        <p:spPr>
          <a:xfrm>
            <a:off x="1097280" y="4416552"/>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Resource Allocation &amp; Organisational Change Management</a:t>
            </a:r>
            <a:endParaRPr lang="en-US" sz="1450" dirty="0"/>
          </a:p>
        </p:txBody>
      </p:sp>
      <p:sp>
        <p:nvSpPr>
          <p:cNvPr id="29" name="Text 27"/>
          <p:cNvSpPr/>
          <p:nvPr/>
        </p:nvSpPr>
        <p:spPr>
          <a:xfrm>
            <a:off x="8961120" y="4416552"/>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GFD</a:t>
            </a:r>
            <a:endParaRPr lang="en-US" sz="1200" dirty="0"/>
          </a:p>
        </p:txBody>
      </p:sp>
      <p:sp>
        <p:nvSpPr>
          <p:cNvPr id="30" name="Shape 28"/>
          <p:cNvSpPr/>
          <p:nvPr/>
        </p:nvSpPr>
        <p:spPr>
          <a:xfrm>
            <a:off x="548640" y="4901184"/>
            <a:ext cx="11064240" cy="0"/>
          </a:xfrm>
          <a:prstGeom prst="line">
            <a:avLst/>
          </a:prstGeom>
          <a:noFill/>
          <a:ln w="9525">
            <a:solidFill>
              <a:srgbClr val="D9D9D4"/>
            </a:solidFill>
            <a:prstDash val="solid"/>
          </a:ln>
        </p:spPr>
      </p:sp>
      <p:sp>
        <p:nvSpPr>
          <p:cNvPr id="31" name="Text 29"/>
          <p:cNvSpPr/>
          <p:nvPr/>
        </p:nvSpPr>
        <p:spPr>
          <a:xfrm>
            <a:off x="548640" y="4901184"/>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8</a:t>
            </a:r>
            <a:endParaRPr lang="en-US" sz="1500" dirty="0"/>
          </a:p>
        </p:txBody>
      </p:sp>
      <p:sp>
        <p:nvSpPr>
          <p:cNvPr id="32" name="Text 30"/>
          <p:cNvSpPr/>
          <p:nvPr/>
        </p:nvSpPr>
        <p:spPr>
          <a:xfrm>
            <a:off x="1097280" y="4901184"/>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Immediate Next Steps</a:t>
            </a:r>
            <a:endParaRPr lang="en-US" sz="1450" dirty="0"/>
          </a:p>
        </p:txBody>
      </p:sp>
      <p:sp>
        <p:nvSpPr>
          <p:cNvPr id="33" name="Text 31"/>
          <p:cNvSpPr/>
          <p:nvPr/>
        </p:nvSpPr>
        <p:spPr>
          <a:xfrm>
            <a:off x="8961120" y="4901184"/>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Prudence</a:t>
            </a:r>
            <a:endParaRPr lang="en-US" sz="1200" dirty="0"/>
          </a:p>
        </p:txBody>
      </p:sp>
      <p:sp>
        <p:nvSpPr>
          <p:cNvPr id="34" name="Shape 32"/>
          <p:cNvSpPr/>
          <p:nvPr/>
        </p:nvSpPr>
        <p:spPr>
          <a:xfrm>
            <a:off x="548640" y="5385816"/>
            <a:ext cx="11064240" cy="0"/>
          </a:xfrm>
          <a:prstGeom prst="line">
            <a:avLst/>
          </a:prstGeom>
          <a:noFill/>
          <a:ln w="9525">
            <a:solidFill>
              <a:srgbClr val="D9D9D4"/>
            </a:solidFill>
            <a:prstDash val="solid"/>
          </a:ln>
        </p:spPr>
      </p:sp>
      <p:sp>
        <p:nvSpPr>
          <p:cNvPr id="35" name="Text 33"/>
          <p:cNvSpPr/>
          <p:nvPr/>
        </p:nvSpPr>
        <p:spPr>
          <a:xfrm>
            <a:off x="548640" y="5385816"/>
            <a:ext cx="457200" cy="484632"/>
          </a:xfrm>
          <a:prstGeom prst="rect">
            <a:avLst/>
          </a:prstGeom>
          <a:noFill/>
          <a:ln/>
        </p:spPr>
        <p:txBody>
          <a:bodyPr wrap="square" lIns="0" tIns="0" rIns="0" bIns="0" rtlCol="0" anchor="ctr"/>
          <a:lstStyle/>
          <a:p>
            <a:pPr marL="0" indent="0">
              <a:buNone/>
            </a:pPr>
            <a:r>
              <a:rPr lang="en-US" sz="1500" b="1" dirty="0">
                <a:solidFill>
                  <a:srgbClr val="6B8E6E"/>
                </a:solidFill>
                <a:latin typeface="Cambria" pitchFamily="34" charset="0"/>
                <a:ea typeface="Cambria" pitchFamily="34" charset="-122"/>
                <a:cs typeface="Cambria" pitchFamily="34" charset="-120"/>
              </a:rPr>
              <a:t>9</a:t>
            </a:r>
            <a:endParaRPr lang="en-US" sz="1500" dirty="0"/>
          </a:p>
        </p:txBody>
      </p:sp>
      <p:sp>
        <p:nvSpPr>
          <p:cNvPr id="36" name="Text 34"/>
          <p:cNvSpPr/>
          <p:nvPr/>
        </p:nvSpPr>
        <p:spPr>
          <a:xfrm>
            <a:off x="1097280" y="5385816"/>
            <a:ext cx="7680960" cy="484632"/>
          </a:xfrm>
          <a:prstGeom prst="rect">
            <a:avLst/>
          </a:prstGeom>
          <a:noFill/>
          <a:ln/>
        </p:spPr>
        <p:txBody>
          <a:bodyPr wrap="square" lIns="0" tIns="0" rIns="0" bIns="0" rtlCol="0" anchor="ctr"/>
          <a:lstStyle/>
          <a:p>
            <a:pPr marL="0" indent="0">
              <a:buNone/>
            </a:pPr>
            <a:r>
              <a:rPr lang="en-US" sz="1450" dirty="0">
                <a:solidFill>
                  <a:srgbClr val="2B2B2B"/>
                </a:solidFill>
                <a:latin typeface="Calibri" pitchFamily="34" charset="0"/>
                <a:ea typeface="Calibri" pitchFamily="34" charset="-122"/>
                <a:cs typeface="Calibri" pitchFamily="34" charset="-120"/>
              </a:rPr>
              <a:t>Any Other Business (AOB)</a:t>
            </a:r>
            <a:endParaRPr lang="en-US" sz="1450" dirty="0"/>
          </a:p>
        </p:txBody>
      </p:sp>
      <p:sp>
        <p:nvSpPr>
          <p:cNvPr id="37" name="Text 35"/>
          <p:cNvSpPr/>
          <p:nvPr/>
        </p:nvSpPr>
        <p:spPr>
          <a:xfrm>
            <a:off x="8961120" y="5385816"/>
            <a:ext cx="2651760" cy="484632"/>
          </a:xfrm>
          <a:prstGeom prst="rect">
            <a:avLst/>
          </a:prstGeom>
          <a:noFill/>
          <a:ln/>
        </p:spPr>
        <p:txBody>
          <a:bodyPr wrap="square" lIns="0" tIns="0" rIns="0" bIns="0" rtlCol="0" anchor="ctr"/>
          <a:lstStyle/>
          <a:p>
            <a:pPr marL="0" indent="0" algn="r">
              <a:buNone/>
            </a:pPr>
            <a:r>
              <a:rPr lang="en-US" sz="1200" i="1" dirty="0">
                <a:solidFill>
                  <a:srgbClr val="6E6E6E"/>
                </a:solidFill>
                <a:latin typeface="Calibri" pitchFamily="34" charset="0"/>
                <a:ea typeface="Calibri" pitchFamily="34" charset="-122"/>
                <a:cs typeface="Calibri" pitchFamily="34" charset="-120"/>
              </a:rPr>
              <a:t>All</a:t>
            </a:r>
            <a:endParaRPr lang="en-US" sz="1200" dirty="0"/>
          </a:p>
        </p:txBody>
      </p:sp>
      <p:sp>
        <p:nvSpPr>
          <p:cNvPr id="38" name="Shape 36"/>
          <p:cNvSpPr/>
          <p:nvPr/>
        </p:nvSpPr>
        <p:spPr>
          <a:xfrm>
            <a:off x="548640" y="5870448"/>
            <a:ext cx="11064240" cy="0"/>
          </a:xfrm>
          <a:prstGeom prst="line">
            <a:avLst/>
          </a:prstGeom>
          <a:noFill/>
          <a:ln w="9525">
            <a:solidFill>
              <a:srgbClr val="D9D9D4"/>
            </a:solidFill>
            <a:prstDash val="solid"/>
          </a:ln>
        </p:spPr>
      </p:sp>
      <p:sp>
        <p:nvSpPr>
          <p:cNvPr id="39" name="Text 37"/>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40" name="Text 3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Vision &amp; Business Case</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What we are trying to do</a:t>
            </a:r>
            <a:endParaRPr lang="en-US" sz="1500" dirty="0"/>
          </a:p>
        </p:txBody>
      </p:sp>
      <p:sp>
        <p:nvSpPr>
          <p:cNvPr id="5" name="Text 3"/>
          <p:cNvSpPr/>
          <p:nvPr/>
        </p:nvSpPr>
        <p:spPr>
          <a:xfrm>
            <a:off x="548640" y="1828800"/>
            <a:ext cx="5486400" cy="1463040"/>
          </a:xfrm>
          <a:prstGeom prst="rect">
            <a:avLst/>
          </a:prstGeom>
          <a:noFill/>
          <a:ln/>
        </p:spPr>
        <p:txBody>
          <a:bodyPr wrap="square" lIns="0" tIns="0" rIns="0" bIns="0" rtlCol="0" anchor="t"/>
          <a:lstStyle/>
          <a:p>
            <a:pPr marL="0" indent="0">
              <a:lnSpc>
                <a:spcPct val="125000"/>
              </a:lnSpc>
              <a:buNone/>
            </a:pPr>
            <a:r>
              <a:rPr lang="en-US" sz="1300" dirty="0">
                <a:solidFill>
                  <a:srgbClr val="2B2B2B"/>
                </a:solidFill>
                <a:latin typeface="Calibri" pitchFamily="34" charset="0"/>
                <a:ea typeface="Calibri" pitchFamily="34" charset="-122"/>
                <a:cs typeface="Calibri" pitchFamily="34" charset="-120"/>
              </a:rPr>
              <a:t>Move Triple-C's pig farms away from paper and spreadsheets and onto one digital system (NAVFarm), linked to our finance system (D365 Business Central). This gives everyone, from farm level to head office, the same accurate, real-time picture of the herd, feed and money.</a:t>
            </a:r>
            <a:endParaRPr lang="en-US" sz="1300" dirty="0"/>
          </a:p>
        </p:txBody>
      </p:sp>
      <p:sp>
        <p:nvSpPr>
          <p:cNvPr id="6" name="Text 4"/>
          <p:cNvSpPr/>
          <p:nvPr/>
        </p:nvSpPr>
        <p:spPr>
          <a:xfrm>
            <a:off x="548640" y="3429000"/>
            <a:ext cx="548640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Why this matters now</a:t>
            </a:r>
            <a:endParaRPr lang="en-US" sz="1500" dirty="0"/>
          </a:p>
        </p:txBody>
      </p:sp>
      <p:sp>
        <p:nvSpPr>
          <p:cNvPr id="7" name="Text 5"/>
          <p:cNvSpPr/>
          <p:nvPr/>
        </p:nvSpPr>
        <p:spPr>
          <a:xfrm>
            <a:off x="548640" y="3749040"/>
            <a:ext cx="5486400" cy="2377440"/>
          </a:xfrm>
          <a:prstGeom prst="rect">
            <a:avLst/>
          </a:prstGeom>
          <a:noFill/>
          <a:ln/>
        </p:spPr>
        <p:txBody>
          <a:bodyPr wrap="square" lIns="0" tIns="0" rIns="0" bIns="0" rtlCol="0" anchor="t"/>
          <a:lstStyle/>
          <a:p>
            <a:pPr marL="203200" indent="-203200">
              <a:lnSpc>
                <a:spcPct val="115000"/>
              </a:lnSpc>
              <a:spcAft>
                <a:spcPts val="700"/>
              </a:spcAft>
              <a:buSzPct val="100000"/>
              <a:buChar char="•"/>
            </a:pPr>
            <a:r>
              <a:rPr lang="en-US" sz="1250" dirty="0">
                <a:solidFill>
                  <a:srgbClr val="2B2B2B"/>
                </a:solidFill>
                <a:latin typeface="Calibri" pitchFamily="34" charset="0"/>
                <a:ea typeface="Calibri" pitchFamily="34" charset="-122"/>
                <a:cs typeface="Calibri" pitchFamily="34" charset="-120"/>
              </a:rPr>
              <a:t>Manual tracking makes it hard to know true feed cost and pig profitability</a:t>
            </a:r>
            <a:endParaRPr lang="en-US" sz="1250" dirty="0"/>
          </a:p>
          <a:p>
            <a:pPr marL="203200" indent="-203200">
              <a:lnSpc>
                <a:spcPct val="115000"/>
              </a:lnSpc>
              <a:spcAft>
                <a:spcPts val="700"/>
              </a:spcAft>
              <a:buSzPct val="100000"/>
              <a:buChar char="•"/>
            </a:pPr>
            <a:r>
              <a:rPr lang="en-US" sz="1250" dirty="0">
                <a:solidFill>
                  <a:srgbClr val="2B2B2B"/>
                </a:solidFill>
                <a:latin typeface="Calibri" pitchFamily="34" charset="0"/>
                <a:ea typeface="Calibri" pitchFamily="34" charset="-122"/>
                <a:cs typeface="Calibri" pitchFamily="34" charset="-120"/>
              </a:rPr>
              <a:t>There is no standard way to value the herd for financial reporting, in real time</a:t>
            </a:r>
            <a:endParaRPr lang="en-US" sz="1250" dirty="0"/>
          </a:p>
          <a:p>
            <a:pPr marL="203200" indent="-203200">
              <a:lnSpc>
                <a:spcPct val="115000"/>
              </a:lnSpc>
              <a:spcAft>
                <a:spcPts val="700"/>
              </a:spcAft>
              <a:buSzPct val="100000"/>
              <a:buChar char="•"/>
            </a:pPr>
            <a:r>
              <a:rPr lang="en-US" sz="1250" dirty="0">
                <a:solidFill>
                  <a:srgbClr val="2B2B2B"/>
                </a:solidFill>
                <a:latin typeface="Calibri" pitchFamily="34" charset="0"/>
                <a:ea typeface="Calibri" pitchFamily="34" charset="-122"/>
                <a:cs typeface="Calibri" pitchFamily="34" charset="-120"/>
              </a:rPr>
              <a:t>Farm data is scattered across different books, cards and sheets</a:t>
            </a:r>
            <a:endParaRPr lang="en-US" sz="1250" dirty="0"/>
          </a:p>
          <a:p>
            <a:pPr marL="203200" indent="-203200">
              <a:lnSpc>
                <a:spcPct val="115000"/>
              </a:lnSpc>
              <a:spcAft>
                <a:spcPts val="700"/>
              </a:spcAft>
              <a:buSzPct val="100000"/>
              <a:buChar char="•"/>
            </a:pPr>
            <a:r>
              <a:rPr lang="en-US" sz="1250" dirty="0">
                <a:solidFill>
                  <a:srgbClr val="2B2B2B"/>
                </a:solidFill>
                <a:latin typeface="Calibri" pitchFamily="34" charset="0"/>
                <a:ea typeface="Calibri" pitchFamily="34" charset="-122"/>
                <a:cs typeface="Calibri" pitchFamily="34" charset="-120"/>
              </a:rPr>
              <a:t>Farm-level ERP access is expensive and rarely fully used</a:t>
            </a:r>
            <a:endParaRPr lang="en-US" sz="1250" dirty="0"/>
          </a:p>
        </p:txBody>
      </p:sp>
      <p:sp>
        <p:nvSpPr>
          <p:cNvPr id="8" name="Text 6"/>
          <p:cNvSpPr/>
          <p:nvPr/>
        </p:nvSpPr>
        <p:spPr>
          <a:xfrm>
            <a:off x="6309360" y="146304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Project Objectives</a:t>
            </a:r>
            <a:endParaRPr lang="en-US" sz="1500" dirty="0"/>
          </a:p>
        </p:txBody>
      </p:sp>
      <p:sp>
        <p:nvSpPr>
          <p:cNvPr id="9" name="Text 7"/>
          <p:cNvSpPr/>
          <p:nvPr/>
        </p:nvSpPr>
        <p:spPr>
          <a:xfrm>
            <a:off x="6309360" y="1828800"/>
            <a:ext cx="5303520" cy="32004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Digitise farm operations end-to-end with NAVFarm</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Automate the pig herd's financial valuation inside D365BC</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Give real-time visibility of feed use, pig lifecycle and profit</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Reduce ERP licence costs with a low-cost farm user model</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Build the foundation for future IoT-enabled smart farming</a:t>
            </a:r>
            <a:endParaRPr lang="en-US" sz="1300" dirty="0"/>
          </a:p>
        </p:txBody>
      </p:sp>
      <p:sp>
        <p:nvSpPr>
          <p:cNvPr id="10" name="Text 8"/>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1" name="Text 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Where We Are Today vs. Where We Are Going</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sp>
        <p:nvSpPr>
          <p:cNvPr id="4" name="Text 2"/>
          <p:cNvSpPr/>
          <p:nvPr/>
        </p:nvSpPr>
        <p:spPr>
          <a:xfrm>
            <a:off x="548640" y="146304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Today (Current State)</a:t>
            </a:r>
            <a:endParaRPr lang="en-US" sz="1500" dirty="0"/>
          </a:p>
        </p:txBody>
      </p:sp>
      <p:sp>
        <p:nvSpPr>
          <p:cNvPr id="5" name="Shape 3"/>
          <p:cNvSpPr/>
          <p:nvPr/>
        </p:nvSpPr>
        <p:spPr>
          <a:xfrm>
            <a:off x="548640" y="1828800"/>
            <a:ext cx="5303520" cy="3931920"/>
          </a:xfrm>
          <a:prstGeom prst="roundRect">
            <a:avLst>
              <a:gd name="adj" fmla="val 1395"/>
            </a:avLst>
          </a:prstGeom>
          <a:solidFill>
            <a:srgbClr val="F5F5F2"/>
          </a:solidFill>
          <a:ln w="9525">
            <a:solidFill>
              <a:srgbClr val="D9D9D4"/>
            </a:solidFill>
            <a:prstDash val="solid"/>
          </a:ln>
        </p:spPr>
      </p:sp>
      <p:sp>
        <p:nvSpPr>
          <p:cNvPr id="6" name="Text 4"/>
          <p:cNvSpPr/>
          <p:nvPr/>
        </p:nvSpPr>
        <p:spPr>
          <a:xfrm>
            <a:off x="822960" y="2011680"/>
            <a:ext cx="4846320" cy="356616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Feed use tracked manually</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No standard way to value pigs for accounts, on real time</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Heavy, costly ERP use required at farm level</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Farm data spread across many separate sources</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Limited visibility of profit - no real-time picture</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Animal health tracked manually, farm by farm</a:t>
            </a:r>
            <a:endParaRPr lang="en-US" sz="1250" dirty="0"/>
          </a:p>
        </p:txBody>
      </p:sp>
      <p:sp>
        <p:nvSpPr>
          <p:cNvPr id="7" name="Text 5"/>
          <p:cNvSpPr/>
          <p:nvPr/>
        </p:nvSpPr>
        <p:spPr>
          <a:xfrm>
            <a:off x="6309360" y="146304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Tomorrow (Future State)</a:t>
            </a:r>
            <a:endParaRPr lang="en-US" sz="1500" dirty="0"/>
          </a:p>
        </p:txBody>
      </p:sp>
      <p:sp>
        <p:nvSpPr>
          <p:cNvPr id="8" name="Shape 6"/>
          <p:cNvSpPr/>
          <p:nvPr/>
        </p:nvSpPr>
        <p:spPr>
          <a:xfrm>
            <a:off x="6309360" y="1828800"/>
            <a:ext cx="5303520" cy="3931920"/>
          </a:xfrm>
          <a:prstGeom prst="roundRect">
            <a:avLst>
              <a:gd name="adj" fmla="val 1395"/>
            </a:avLst>
          </a:prstGeom>
          <a:solidFill>
            <a:srgbClr val="EDF2EE"/>
          </a:solidFill>
          <a:ln w="9525">
            <a:solidFill>
              <a:srgbClr val="6B8E6E"/>
            </a:solidFill>
            <a:prstDash val="solid"/>
          </a:ln>
        </p:spPr>
      </p:sp>
      <p:sp>
        <p:nvSpPr>
          <p:cNvPr id="9" name="Text 7"/>
          <p:cNvSpPr/>
          <p:nvPr/>
        </p:nvSpPr>
        <p:spPr>
          <a:xfrm>
            <a:off x="6583680" y="2011680"/>
            <a:ext cx="4846320" cy="356616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Fully digital farm operations through NAVFarm</a:t>
            </a:r>
            <a:endParaRPr lang="en-US" sz="1250" dirty="0"/>
          </a:p>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Automatic pig valuation inside D365BC</a:t>
            </a:r>
            <a:endParaRPr lang="en-US" sz="1250" dirty="0"/>
          </a:p>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Real-time feed cost and lifecycle tracking</a:t>
            </a:r>
            <a:endParaRPr lang="en-US" sz="1250" dirty="0"/>
          </a:p>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Automatic alerts and notifications</a:t>
            </a:r>
            <a:endParaRPr lang="en-US" sz="1250" dirty="0"/>
          </a:p>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One historical record for year-on-year comparison</a:t>
            </a:r>
            <a:endParaRPr lang="en-US" sz="1250" dirty="0"/>
          </a:p>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Low-cost licensing model + RFID smart farm tools</a:t>
            </a:r>
            <a:endParaRPr lang="en-US" sz="1250" dirty="0"/>
          </a:p>
          <a:p>
            <a:pPr marL="203200" indent="-203200">
              <a:lnSpc>
                <a:spcPct val="115000"/>
              </a:lnSpc>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Offline data capture available at farm level</a:t>
            </a:r>
            <a:endParaRPr lang="en-US" sz="1250" dirty="0"/>
          </a:p>
        </p:txBody>
      </p:sp>
      <p:sp>
        <p:nvSpPr>
          <p:cNvPr id="10" name="Text 8"/>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1" name="Text 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How the Solution Fits Together</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In simple terms</a:t>
            </a:r>
            <a:endParaRPr lang="en-US" sz="1250" dirty="0">
              <a:solidFill>
                <a:schemeClr val="accent1"/>
              </a:solidFill>
            </a:endParaRPr>
          </a:p>
        </p:txBody>
      </p:sp>
      <p:sp>
        <p:nvSpPr>
          <p:cNvPr id="4" name="Shape 2"/>
          <p:cNvSpPr/>
          <p:nvPr/>
        </p:nvSpPr>
        <p:spPr>
          <a:xfrm>
            <a:off x="548640" y="2103120"/>
            <a:ext cx="2331720" cy="1828800"/>
          </a:xfrm>
          <a:prstGeom prst="roundRect">
            <a:avLst>
              <a:gd name="adj" fmla="val 4000"/>
            </a:avLst>
          </a:prstGeom>
          <a:solidFill>
            <a:srgbClr val="F5F5F2"/>
          </a:solidFill>
          <a:ln w="9525">
            <a:solidFill>
              <a:srgbClr val="D9D9D4"/>
            </a:solidFill>
            <a:prstDash val="solid"/>
          </a:ln>
        </p:spPr>
      </p:sp>
      <p:sp>
        <p:nvSpPr>
          <p:cNvPr id="5" name="Text 3"/>
          <p:cNvSpPr/>
          <p:nvPr/>
        </p:nvSpPr>
        <p:spPr>
          <a:xfrm>
            <a:off x="685800" y="2240280"/>
            <a:ext cx="2057400" cy="45720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1. NAVFarm App</a:t>
            </a:r>
            <a:endParaRPr lang="en-US" sz="1300" dirty="0"/>
          </a:p>
        </p:txBody>
      </p:sp>
      <p:sp>
        <p:nvSpPr>
          <p:cNvPr id="6" name="Text 4"/>
          <p:cNvSpPr/>
          <p:nvPr/>
        </p:nvSpPr>
        <p:spPr>
          <a:xfrm>
            <a:off x="685800" y="2697480"/>
            <a:ext cx="2057400" cy="1097280"/>
          </a:xfrm>
          <a:prstGeom prst="rect">
            <a:avLst/>
          </a:prstGeom>
          <a:noFill/>
          <a:ln/>
        </p:spPr>
        <p:txBody>
          <a:bodyPr wrap="square" lIns="0" tIns="0" rIns="0" bIns="0" rtlCol="0" anchor="t"/>
          <a:lstStyle/>
          <a:p>
            <a:pPr marL="0" indent="0">
              <a:lnSpc>
                <a:spcPct val="115000"/>
              </a:lnSpc>
              <a:buNone/>
            </a:pPr>
            <a:r>
              <a:rPr lang="en-US" sz="1050" dirty="0">
                <a:solidFill>
                  <a:srgbClr val="2B2B2B"/>
                </a:solidFill>
                <a:latin typeface="Calibri" pitchFamily="34" charset="0"/>
                <a:ea typeface="Calibri" pitchFamily="34" charset="-122"/>
                <a:cs typeface="Calibri" pitchFamily="34" charset="-120"/>
              </a:rPr>
              <a:t>Farm teams record feed, health, weights and RFID scans, on the web or mobile, even offline.</a:t>
            </a:r>
            <a:endParaRPr lang="en-US" sz="1050" dirty="0"/>
          </a:p>
        </p:txBody>
      </p:sp>
      <p:sp>
        <p:nvSpPr>
          <p:cNvPr id="7" name="Text 5"/>
          <p:cNvSpPr/>
          <p:nvPr/>
        </p:nvSpPr>
        <p:spPr>
          <a:xfrm>
            <a:off x="2880360" y="2788920"/>
            <a:ext cx="320040" cy="457200"/>
          </a:xfrm>
          <a:prstGeom prst="rect">
            <a:avLst/>
          </a:prstGeom>
          <a:noFill/>
          <a:ln/>
        </p:spPr>
        <p:txBody>
          <a:bodyPr wrap="square" lIns="0" tIns="0" rIns="0" bIns="0" rtlCol="0" anchor="ctr"/>
          <a:lstStyle/>
          <a:p>
            <a:pPr marL="0" indent="0" algn="ctr">
              <a:buNone/>
            </a:pPr>
            <a:r>
              <a:rPr lang="en-US" sz="2000" b="1" dirty="0">
                <a:solidFill>
                  <a:srgbClr val="6B8E6E"/>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200400" y="2103120"/>
            <a:ext cx="2331720" cy="1828800"/>
          </a:xfrm>
          <a:prstGeom prst="roundRect">
            <a:avLst>
              <a:gd name="adj" fmla="val 4000"/>
            </a:avLst>
          </a:prstGeom>
          <a:solidFill>
            <a:srgbClr val="F5F5F2"/>
          </a:solidFill>
          <a:ln w="9525">
            <a:solidFill>
              <a:srgbClr val="D9D9D4"/>
            </a:solidFill>
            <a:prstDash val="solid"/>
          </a:ln>
        </p:spPr>
      </p:sp>
      <p:sp>
        <p:nvSpPr>
          <p:cNvPr id="9" name="Text 7"/>
          <p:cNvSpPr/>
          <p:nvPr/>
        </p:nvSpPr>
        <p:spPr>
          <a:xfrm>
            <a:off x="3337560" y="2240280"/>
            <a:ext cx="2057400" cy="45720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2. NAVFarm Connector</a:t>
            </a:r>
            <a:endParaRPr lang="en-US" sz="1300" dirty="0"/>
          </a:p>
        </p:txBody>
      </p:sp>
      <p:sp>
        <p:nvSpPr>
          <p:cNvPr id="10" name="Text 8"/>
          <p:cNvSpPr/>
          <p:nvPr/>
        </p:nvSpPr>
        <p:spPr>
          <a:xfrm>
            <a:off x="3337560" y="2697480"/>
            <a:ext cx="2057400" cy="1097280"/>
          </a:xfrm>
          <a:prstGeom prst="rect">
            <a:avLst/>
          </a:prstGeom>
          <a:noFill/>
          <a:ln/>
        </p:spPr>
        <p:txBody>
          <a:bodyPr wrap="square" lIns="0" tIns="0" rIns="0" bIns="0" rtlCol="0" anchor="t"/>
          <a:lstStyle/>
          <a:p>
            <a:pPr marL="0" indent="0">
              <a:lnSpc>
                <a:spcPct val="115000"/>
              </a:lnSpc>
              <a:buNone/>
            </a:pPr>
            <a:r>
              <a:rPr lang="en-US" sz="1050" dirty="0">
                <a:solidFill>
                  <a:srgbClr val="2B2B2B"/>
                </a:solidFill>
                <a:latin typeface="Calibri" pitchFamily="34" charset="0"/>
                <a:ea typeface="Calibri" pitchFamily="34" charset="-122"/>
                <a:cs typeface="Calibri" pitchFamily="34" charset="-120"/>
              </a:rPr>
              <a:t>Automatically and securely sends that farm data to the finance system in real time.</a:t>
            </a:r>
            <a:endParaRPr lang="en-US" sz="1050" dirty="0"/>
          </a:p>
        </p:txBody>
      </p:sp>
      <p:sp>
        <p:nvSpPr>
          <p:cNvPr id="11" name="Text 9"/>
          <p:cNvSpPr/>
          <p:nvPr/>
        </p:nvSpPr>
        <p:spPr>
          <a:xfrm>
            <a:off x="5532120" y="2788920"/>
            <a:ext cx="320040" cy="457200"/>
          </a:xfrm>
          <a:prstGeom prst="rect">
            <a:avLst/>
          </a:prstGeom>
          <a:noFill/>
          <a:ln/>
        </p:spPr>
        <p:txBody>
          <a:bodyPr wrap="square" lIns="0" tIns="0" rIns="0" bIns="0" rtlCol="0" anchor="ctr"/>
          <a:lstStyle/>
          <a:p>
            <a:pPr marL="0" indent="0" algn="ctr">
              <a:buNone/>
            </a:pPr>
            <a:r>
              <a:rPr lang="en-US" sz="2000" b="1" dirty="0">
                <a:solidFill>
                  <a:srgbClr val="6B8E6E"/>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852160" y="2103120"/>
            <a:ext cx="2331720" cy="1828800"/>
          </a:xfrm>
          <a:prstGeom prst="roundRect">
            <a:avLst>
              <a:gd name="adj" fmla="val 4000"/>
            </a:avLst>
          </a:prstGeom>
          <a:solidFill>
            <a:srgbClr val="EDF2EE"/>
          </a:solidFill>
          <a:ln w="9525">
            <a:solidFill>
              <a:srgbClr val="D9D9D4"/>
            </a:solidFill>
            <a:prstDash val="solid"/>
          </a:ln>
        </p:spPr>
      </p:sp>
      <p:sp>
        <p:nvSpPr>
          <p:cNvPr id="13" name="Text 11"/>
          <p:cNvSpPr/>
          <p:nvPr/>
        </p:nvSpPr>
        <p:spPr>
          <a:xfrm>
            <a:off x="5989320" y="2240280"/>
            <a:ext cx="2057400" cy="45720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3. D365 Business Central</a:t>
            </a:r>
            <a:endParaRPr lang="en-US" sz="1300" dirty="0"/>
          </a:p>
        </p:txBody>
      </p:sp>
      <p:sp>
        <p:nvSpPr>
          <p:cNvPr id="14" name="Text 12"/>
          <p:cNvSpPr/>
          <p:nvPr/>
        </p:nvSpPr>
        <p:spPr>
          <a:xfrm>
            <a:off x="5989320" y="2697480"/>
            <a:ext cx="2057400" cy="1097280"/>
          </a:xfrm>
          <a:prstGeom prst="rect">
            <a:avLst/>
          </a:prstGeom>
          <a:noFill/>
          <a:ln/>
        </p:spPr>
        <p:txBody>
          <a:bodyPr wrap="square" lIns="0" tIns="0" rIns="0" bIns="0" rtlCol="0" anchor="t"/>
          <a:lstStyle/>
          <a:p>
            <a:pPr marL="0" indent="0">
              <a:lnSpc>
                <a:spcPct val="115000"/>
              </a:lnSpc>
              <a:buNone/>
            </a:pPr>
            <a:r>
              <a:rPr lang="en-US" sz="1050" dirty="0">
                <a:solidFill>
                  <a:srgbClr val="2B2B2B"/>
                </a:solidFill>
                <a:latin typeface="Calibri" pitchFamily="34" charset="0"/>
                <a:ea typeface="Calibri" pitchFamily="34" charset="-122"/>
                <a:cs typeface="Calibri" pitchFamily="34" charset="-120"/>
              </a:rPr>
              <a:t>Keeps the financial books, and automatically values the pig herd as a 'biological asset'.</a:t>
            </a:r>
            <a:endParaRPr lang="en-US" sz="1050" dirty="0"/>
          </a:p>
        </p:txBody>
      </p:sp>
      <p:sp>
        <p:nvSpPr>
          <p:cNvPr id="15" name="Text 13"/>
          <p:cNvSpPr/>
          <p:nvPr/>
        </p:nvSpPr>
        <p:spPr>
          <a:xfrm>
            <a:off x="8183880" y="2788920"/>
            <a:ext cx="320040" cy="457200"/>
          </a:xfrm>
          <a:prstGeom prst="rect">
            <a:avLst/>
          </a:prstGeom>
          <a:noFill/>
          <a:ln/>
        </p:spPr>
        <p:txBody>
          <a:bodyPr wrap="square" lIns="0" tIns="0" rIns="0" bIns="0" rtlCol="0" anchor="ctr"/>
          <a:lstStyle/>
          <a:p>
            <a:pPr marL="0" indent="0" algn="ctr">
              <a:buNone/>
            </a:pPr>
            <a:r>
              <a:rPr lang="en-US" sz="2000" b="1" dirty="0">
                <a:solidFill>
                  <a:srgbClr val="6B8E6E"/>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503920" y="2103120"/>
            <a:ext cx="2331720" cy="1828800"/>
          </a:xfrm>
          <a:prstGeom prst="roundRect">
            <a:avLst>
              <a:gd name="adj" fmla="val 4000"/>
            </a:avLst>
          </a:prstGeom>
          <a:solidFill>
            <a:srgbClr val="F5F5F2"/>
          </a:solidFill>
          <a:ln w="9525">
            <a:solidFill>
              <a:srgbClr val="D9D9D4"/>
            </a:solidFill>
            <a:prstDash val="solid"/>
          </a:ln>
        </p:spPr>
      </p:sp>
      <p:sp>
        <p:nvSpPr>
          <p:cNvPr id="17" name="Text 15"/>
          <p:cNvSpPr/>
          <p:nvPr/>
        </p:nvSpPr>
        <p:spPr>
          <a:xfrm>
            <a:off x="8641080" y="2240280"/>
            <a:ext cx="2057400" cy="45720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4. Reports &amp; Dashboards</a:t>
            </a:r>
            <a:endParaRPr lang="en-US" sz="1300" dirty="0"/>
          </a:p>
        </p:txBody>
      </p:sp>
      <p:sp>
        <p:nvSpPr>
          <p:cNvPr id="18" name="Text 16"/>
          <p:cNvSpPr/>
          <p:nvPr/>
        </p:nvSpPr>
        <p:spPr>
          <a:xfrm>
            <a:off x="8641080" y="2697480"/>
            <a:ext cx="2057400" cy="1097280"/>
          </a:xfrm>
          <a:prstGeom prst="rect">
            <a:avLst/>
          </a:prstGeom>
          <a:noFill/>
          <a:ln/>
        </p:spPr>
        <p:txBody>
          <a:bodyPr wrap="square" lIns="0" tIns="0" rIns="0" bIns="0" rtlCol="0" anchor="t"/>
          <a:lstStyle/>
          <a:p>
            <a:pPr marL="0" indent="0">
              <a:lnSpc>
                <a:spcPct val="115000"/>
              </a:lnSpc>
              <a:buNone/>
            </a:pPr>
            <a:r>
              <a:rPr lang="en-US" sz="1050" dirty="0">
                <a:solidFill>
                  <a:srgbClr val="2B2B2B"/>
                </a:solidFill>
                <a:latin typeface="Calibri" pitchFamily="34" charset="0"/>
                <a:ea typeface="Calibri" pitchFamily="34" charset="-122"/>
                <a:cs typeface="Calibri" pitchFamily="34" charset="-120"/>
              </a:rPr>
              <a:t>Management gets one accurate, real-time view of the herd, costs and profitability.</a:t>
            </a:r>
            <a:endParaRPr lang="en-US" sz="1050" dirty="0"/>
          </a:p>
        </p:txBody>
      </p:sp>
      <p:sp>
        <p:nvSpPr>
          <p:cNvPr id="19" name="Text 17"/>
          <p:cNvSpPr/>
          <p:nvPr/>
        </p:nvSpPr>
        <p:spPr>
          <a:xfrm>
            <a:off x="548640" y="4389120"/>
            <a:ext cx="11064240" cy="640080"/>
          </a:xfrm>
          <a:prstGeom prst="rect">
            <a:avLst/>
          </a:prstGeom>
          <a:noFill/>
          <a:ln/>
        </p:spPr>
        <p:txBody>
          <a:bodyPr wrap="square" lIns="0" tIns="0" rIns="0" bIns="0" rtlCol="0" anchor="ctr"/>
          <a:lstStyle/>
          <a:p>
            <a:pPr marL="0" indent="0">
              <a:lnSpc>
                <a:spcPct val="125000"/>
              </a:lnSpc>
              <a:buNone/>
            </a:pPr>
            <a:r>
              <a:rPr lang="en-US" sz="1300" b="1" dirty="0">
                <a:solidFill>
                  <a:srgbClr val="1F3B2E"/>
                </a:solidFill>
                <a:latin typeface="Calibri" pitchFamily="34" charset="0"/>
                <a:ea typeface="Calibri" pitchFamily="34" charset="-122"/>
                <a:cs typeface="Calibri" pitchFamily="34" charset="-120"/>
              </a:rPr>
              <a:t>Also:  </a:t>
            </a:r>
            <a:r>
              <a:rPr lang="en-US" sz="1300" dirty="0">
                <a:solidFill>
                  <a:srgbClr val="2B2B2B"/>
                </a:solidFill>
                <a:latin typeface="Calibri" pitchFamily="34" charset="0"/>
                <a:ea typeface="Calibri" pitchFamily="34" charset="-122"/>
                <a:cs typeface="Calibri" pitchFamily="34" charset="-120"/>
              </a:rPr>
              <a:t>NAVFarm exchanges data with the Pig Vision application (breeding, growth, health records) via APIs, so the same information never needs to be typed in twice.</a:t>
            </a:r>
            <a:endParaRPr lang="en-US" sz="1300" dirty="0"/>
          </a:p>
        </p:txBody>
      </p:sp>
      <p:sp>
        <p:nvSpPr>
          <p:cNvPr id="20" name="Text 18"/>
          <p:cNvSpPr/>
          <p:nvPr/>
        </p:nvSpPr>
        <p:spPr>
          <a:xfrm>
            <a:off x="548640" y="5074920"/>
            <a:ext cx="11064240" cy="548640"/>
          </a:xfrm>
          <a:prstGeom prst="rect">
            <a:avLst/>
          </a:prstGeom>
          <a:noFill/>
          <a:ln/>
        </p:spPr>
        <p:txBody>
          <a:bodyPr wrap="square" lIns="0" tIns="0" rIns="0" bIns="0" rtlCol="0" anchor="ctr"/>
          <a:lstStyle/>
          <a:p>
            <a:pPr marL="0" indent="0">
              <a:lnSpc>
                <a:spcPct val="125000"/>
              </a:lnSpc>
              <a:buNone/>
            </a:pPr>
            <a:r>
              <a:rPr lang="en-US" sz="1300" b="1" i="1" dirty="0">
                <a:solidFill>
                  <a:srgbClr val="1F3B2E"/>
                </a:solidFill>
                <a:latin typeface="Calibri" pitchFamily="34" charset="0"/>
                <a:ea typeface="Calibri" pitchFamily="34" charset="-122"/>
                <a:cs typeface="Calibri" pitchFamily="34" charset="-120"/>
              </a:rPr>
              <a:t>Looking ahead (Phase 2):  </a:t>
            </a:r>
            <a:r>
              <a:rPr lang="en-US" sz="1300" i="1" dirty="0">
                <a:solidFill>
                  <a:srgbClr val="2B2B2B"/>
                </a:solidFill>
                <a:latin typeface="Calibri" pitchFamily="34" charset="0"/>
                <a:ea typeface="Calibri" pitchFamily="34" charset="-122"/>
                <a:cs typeface="Calibri" pitchFamily="34" charset="-120"/>
              </a:rPr>
              <a:t>water meters, silo weight scales and other sensors can be connected to NAVFarm for fully automated readings.</a:t>
            </a:r>
            <a:endParaRPr lang="en-US" sz="1300" dirty="0"/>
          </a:p>
        </p:txBody>
      </p:sp>
      <p:sp>
        <p:nvSpPr>
          <p:cNvPr id="21" name="Text 19"/>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22" name="Text 2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Management Team - Triple-C (1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2842260"/>
        </p:xfrm>
        <a:graphic>
          <a:graphicData uri="http://schemas.openxmlformats.org/drawingml/2006/table">
            <a:tbl>
              <a:tblPr/>
              <a:tblGrid>
                <a:gridCol w="640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466344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 No.</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Title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Project Role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Mandy Murebwa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Group Finance Director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Project Management Chairperson</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Hama Mudavose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Group ICT Executive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Project Management Role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Johan Odendaal</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General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Implementation Lead</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Innocent Sithole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Group Financial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Financial Controls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John Nyabadza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Finance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Finance Lead Role - Triple-C</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Israel Muchuchu</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Human Resources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Human Capital Resource Management</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Lara Baum</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Manager - Multiplier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(Multiplier)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Ngoni Dedza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Mill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Milling Operations - Transfer Orders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8"/>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Jimmyson Kazangarare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Manager - Porta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(Porta)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Solomon Maposa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Manager - Richlands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(Richlands)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10"/>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Archbald Gwebere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Data Analyst</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Data Analyst - Farming Operations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Management Team - Triple-C (2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2606040"/>
        </p:xfrm>
        <a:graphic>
          <a:graphicData uri="http://schemas.openxmlformats.org/drawingml/2006/table">
            <a:tbl>
              <a:tblPr/>
              <a:tblGrid>
                <a:gridCol w="640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466344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 No.</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Title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Project Role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Tafadzwa Katsokore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Supervisor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Lions Head Farm Operations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Willis Mudzonga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Supervisor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Villa Franca Farm Operations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Trevor Mudimu</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Supervisor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Learig Farm Operations</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Runyararo Sithole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ICT Systems Administrator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ICT Technical Implementation - Triple-C</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David Zvinoitavamwe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ICT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ICT Technical Implementation</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Tonderai Gonamombe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Management Accountant</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Costing Role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Fungai Sigauke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Site Manager - Learig</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(Learig)</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Gerd Baum</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Manager - Grasmere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(Grasmere)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8"/>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Johan Fourie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Manager - LionHead</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(LionHead)</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Tapiwa Mupambuzi</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Manager - Villa Franca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Farm Operations (Villa Franca)</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10"/>
                  </a:ext>
                </a:extLst>
              </a:tr>
            </a:tbl>
          </a:graphicData>
        </a:graphic>
      </p:graphicFrame>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Management Team - Prudence Consulting</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Implementation Partner</a:t>
            </a:r>
            <a:endParaRPr lang="en-US" sz="1250" dirty="0">
              <a:solidFill>
                <a:schemeClr val="accent1"/>
              </a:solidFill>
            </a:endParaRPr>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1897380"/>
        </p:xfrm>
        <a:graphic>
          <a:graphicData uri="http://schemas.openxmlformats.org/drawingml/2006/table">
            <a:tbl>
              <a:tblPr/>
              <a:tblGrid>
                <a:gridCol w="6400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 No.</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Title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Project Role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Abhinav Singh</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Operation Director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Project Steering Committee Chairperson</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Neha Rawat</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PMO</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Project Management Role</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Paul Young</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Product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Project Manager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Mukul Joshi</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Senior Solution Architect</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Solution Designer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Anshu</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Functional Consultant &amp; Trainer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Functional Consultant &amp; Trainer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Rishi</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Technical</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Front-End Developer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Arun</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Technical</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B2B2B"/>
                          </a:solidFill>
                          <a:latin typeface="Calibri" pitchFamily="34" charset="0"/>
                          <a:ea typeface="Calibri" pitchFamily="34" charset="-122"/>
                          <a:cs typeface="Calibri" pitchFamily="34" charset="-120"/>
                        </a:rPr>
                        <a:t>Back-End Developer</a:t>
                      </a:r>
                      <a:endParaRPr lang="en-US" sz="10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Goals &amp; Business Value</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a:t>
            </a:r>
            <a:endParaRPr lang="en-US" sz="1250" dirty="0">
              <a:solidFill>
                <a:schemeClr val="accent1"/>
              </a:solidFill>
            </a:endParaRPr>
          </a:p>
        </p:txBody>
      </p:sp>
      <p:sp>
        <p:nvSpPr>
          <p:cNvPr id="4" name="Text 2"/>
          <p:cNvSpPr/>
          <p:nvPr/>
        </p:nvSpPr>
        <p:spPr>
          <a:xfrm>
            <a:off x="548640" y="1417320"/>
            <a:ext cx="512064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Project Goals</a:t>
            </a:r>
            <a:endParaRPr lang="en-US" sz="1500" dirty="0"/>
          </a:p>
        </p:txBody>
      </p:sp>
      <p:sp>
        <p:nvSpPr>
          <p:cNvPr id="5" name="Text 3"/>
          <p:cNvSpPr/>
          <p:nvPr/>
        </p:nvSpPr>
        <p:spPr>
          <a:xfrm>
            <a:off x="548640" y="1783080"/>
            <a:ext cx="5394960" cy="27432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Fully digital farm operations via NAVFarm</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Automated biological asset valuation in D365BC</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Real-time feed and lifecycle tracking, with alerts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Optimised, low-cost farm licensing model</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Integrated RFID smart farm ecosystem</a:t>
            </a:r>
            <a:endParaRPr lang="en-US" sz="1300" dirty="0"/>
          </a:p>
        </p:txBody>
      </p:sp>
      <p:sp>
        <p:nvSpPr>
          <p:cNvPr id="6" name="Text 4"/>
          <p:cNvSpPr/>
          <p:nvPr/>
        </p:nvSpPr>
        <p:spPr>
          <a:xfrm>
            <a:off x="6309360" y="141732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Business Value by Area</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09360" y="1783080"/>
          <a:ext cx="530352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Expected Impact</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0">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ERP Licence Cost</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Significant reduction</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Feed Cost Control</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Optimised consumption</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0">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Asset Valuation</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Automated &amp; accurate</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Operational Control</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Real-time farm visibility</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0">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Decision Making</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B2B2B"/>
                          </a:solidFill>
                          <a:latin typeface="Calibri" pitchFamily="34" charset="0"/>
                          <a:ea typeface="Calibri" pitchFamily="34" charset="-122"/>
                          <a:cs typeface="Calibri" pitchFamily="34" charset="-120"/>
                        </a:rPr>
                        <a:t>Data-driven MIS dashboards</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9" name="Text 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Key Capabilities (1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What NAVFarm delivers for Triple-C's farms</a:t>
            </a:r>
            <a:endParaRPr lang="en-US" sz="1250" dirty="0">
              <a:solidFill>
                <a:schemeClr val="accent1"/>
              </a:solidFill>
            </a:endParaRPr>
          </a:p>
        </p:txBody>
      </p:sp>
      <p:sp>
        <p:nvSpPr>
          <p:cNvPr id="4" name="Shape 2"/>
          <p:cNvSpPr/>
          <p:nvPr/>
        </p:nvSpPr>
        <p:spPr>
          <a:xfrm>
            <a:off x="548640" y="1463040"/>
            <a:ext cx="5349240" cy="1783080"/>
          </a:xfrm>
          <a:prstGeom prst="roundRect">
            <a:avLst>
              <a:gd name="adj" fmla="val 3077"/>
            </a:avLst>
          </a:prstGeom>
          <a:solidFill>
            <a:srgbClr val="F5F5F2"/>
          </a:solidFill>
          <a:ln w="9525">
            <a:solidFill>
              <a:srgbClr val="D9D9D4"/>
            </a:solidFill>
            <a:prstDash val="solid"/>
          </a:ln>
        </p:spPr>
      </p:sp>
      <p:sp>
        <p:nvSpPr>
          <p:cNvPr id="5" name="Text 3"/>
          <p:cNvSpPr/>
          <p:nvPr/>
        </p:nvSpPr>
        <p:spPr>
          <a:xfrm>
            <a:off x="713232" y="157276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1. Production Excellence</a:t>
            </a:r>
            <a:endParaRPr lang="en-US" sz="1300" dirty="0"/>
          </a:p>
        </p:txBody>
      </p:sp>
      <p:sp>
        <p:nvSpPr>
          <p:cNvPr id="6" name="Text 4"/>
          <p:cNvSpPr/>
          <p:nvPr/>
        </p:nvSpPr>
        <p:spPr>
          <a:xfrm>
            <a:off x="713232" y="192024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End-to-end lifecycle: breeding → farrowing → grow-out</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Housing and feeding managed by stage</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Focus on productivity: litter size, growth rates</a:t>
            </a:r>
            <a:endParaRPr lang="en-US" sz="1050" dirty="0"/>
          </a:p>
        </p:txBody>
      </p:sp>
      <p:sp>
        <p:nvSpPr>
          <p:cNvPr id="7" name="Shape 5"/>
          <p:cNvSpPr/>
          <p:nvPr/>
        </p:nvSpPr>
        <p:spPr>
          <a:xfrm>
            <a:off x="6263640" y="1463040"/>
            <a:ext cx="5349240" cy="1783080"/>
          </a:xfrm>
          <a:prstGeom prst="roundRect">
            <a:avLst>
              <a:gd name="adj" fmla="val 3077"/>
            </a:avLst>
          </a:prstGeom>
          <a:solidFill>
            <a:srgbClr val="F5F5F2"/>
          </a:solidFill>
          <a:ln w="9525">
            <a:solidFill>
              <a:srgbClr val="D9D9D4"/>
            </a:solidFill>
            <a:prstDash val="solid"/>
          </a:ln>
        </p:spPr>
      </p:sp>
      <p:sp>
        <p:nvSpPr>
          <p:cNvPr id="8" name="Text 6"/>
          <p:cNvSpPr/>
          <p:nvPr/>
        </p:nvSpPr>
        <p:spPr>
          <a:xfrm>
            <a:off x="6428232" y="157276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2. Animal Health &amp; Biosecurity</a:t>
            </a:r>
            <a:endParaRPr lang="en-US" sz="1300" dirty="0"/>
          </a:p>
        </p:txBody>
      </p:sp>
      <p:sp>
        <p:nvSpPr>
          <p:cNvPr id="9" name="Text 7"/>
          <p:cNvSpPr/>
          <p:nvPr/>
        </p:nvSpPr>
        <p:spPr>
          <a:xfrm>
            <a:off x="6428232" y="192024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Vaccination and disease control tracking</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Mortality reduction and herd health monitoring</a:t>
            </a:r>
            <a:endParaRPr lang="en-US" sz="1050" dirty="0"/>
          </a:p>
        </p:txBody>
      </p:sp>
      <p:sp>
        <p:nvSpPr>
          <p:cNvPr id="10" name="Shape 8"/>
          <p:cNvSpPr/>
          <p:nvPr/>
        </p:nvSpPr>
        <p:spPr>
          <a:xfrm>
            <a:off x="548640" y="3474720"/>
            <a:ext cx="5349240" cy="1783080"/>
          </a:xfrm>
          <a:prstGeom prst="roundRect">
            <a:avLst>
              <a:gd name="adj" fmla="val 3077"/>
            </a:avLst>
          </a:prstGeom>
          <a:solidFill>
            <a:srgbClr val="F5F5F2"/>
          </a:solidFill>
          <a:ln w="9525">
            <a:solidFill>
              <a:srgbClr val="D9D9D4"/>
            </a:solidFill>
            <a:prstDash val="solid"/>
          </a:ln>
        </p:spPr>
      </p:sp>
      <p:sp>
        <p:nvSpPr>
          <p:cNvPr id="11" name="Text 9"/>
          <p:cNvSpPr/>
          <p:nvPr/>
        </p:nvSpPr>
        <p:spPr>
          <a:xfrm>
            <a:off x="713232" y="358444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3. Integrated Operations Control</a:t>
            </a:r>
            <a:endParaRPr lang="en-US" sz="1300" dirty="0"/>
          </a:p>
        </p:txBody>
      </p:sp>
      <p:sp>
        <p:nvSpPr>
          <p:cNvPr id="12" name="Text 10"/>
          <p:cNvSpPr/>
          <p:nvPr/>
        </p:nvSpPr>
        <p:spPr>
          <a:xfrm>
            <a:off x="713232" y="393192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Batch tracking across locations and sheds</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Full animal movement tracking</a:t>
            </a:r>
            <a:endParaRPr lang="en-US" sz="1050" dirty="0"/>
          </a:p>
        </p:txBody>
      </p:sp>
      <p:sp>
        <p:nvSpPr>
          <p:cNvPr id="13" name="Shape 11"/>
          <p:cNvSpPr/>
          <p:nvPr/>
        </p:nvSpPr>
        <p:spPr>
          <a:xfrm>
            <a:off x="6263640" y="3474720"/>
            <a:ext cx="5349240" cy="1783080"/>
          </a:xfrm>
          <a:prstGeom prst="roundRect">
            <a:avLst>
              <a:gd name="adj" fmla="val 3077"/>
            </a:avLst>
          </a:prstGeom>
          <a:solidFill>
            <a:srgbClr val="F5F5F2"/>
          </a:solidFill>
          <a:ln w="9525">
            <a:solidFill>
              <a:srgbClr val="D9D9D4"/>
            </a:solidFill>
            <a:prstDash val="solid"/>
          </a:ln>
        </p:spPr>
      </p:sp>
      <p:sp>
        <p:nvSpPr>
          <p:cNvPr id="14" name="Text 12"/>
          <p:cNvSpPr/>
          <p:nvPr/>
        </p:nvSpPr>
        <p:spPr>
          <a:xfrm>
            <a:off x="6428232" y="358444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4. Financial &amp; Data Intelligence</a:t>
            </a:r>
            <a:endParaRPr lang="en-US" sz="1300" dirty="0"/>
          </a:p>
        </p:txBody>
      </p:sp>
      <p:sp>
        <p:nvSpPr>
          <p:cNvPr id="15" name="Text 13"/>
          <p:cNvSpPr/>
          <p:nvPr/>
        </p:nvSpPr>
        <p:spPr>
          <a:xfrm>
            <a:off x="6428232" y="393192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Cost control: feed, amortisation, operations</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KPI tracking: FCR, cost per piglet, performance</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Real-time ERP dashboards in NAVFarm</a:t>
            </a:r>
            <a:endParaRPr lang="en-US" sz="1050" dirty="0"/>
          </a:p>
        </p:txBody>
      </p:sp>
      <p:sp>
        <p:nvSpPr>
          <p:cNvPr id="16" name="Text 14"/>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7" name="Text 15"/>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Key Capabilities (2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How NAVFarm tracks cost &amp; value, built for gilt, boar and semen costing</a:t>
            </a:r>
            <a:endParaRPr lang="en-US" sz="1250" dirty="0">
              <a:solidFill>
                <a:schemeClr val="accent1"/>
              </a:solidFill>
            </a:endParaRPr>
          </a:p>
        </p:txBody>
      </p:sp>
      <p:sp>
        <p:nvSpPr>
          <p:cNvPr id="4" name="Shape 2"/>
          <p:cNvSpPr/>
          <p:nvPr/>
        </p:nvSpPr>
        <p:spPr>
          <a:xfrm>
            <a:off x="548640" y="1463040"/>
            <a:ext cx="5349240" cy="1783080"/>
          </a:xfrm>
          <a:prstGeom prst="roundRect">
            <a:avLst>
              <a:gd name="adj" fmla="val 3077"/>
            </a:avLst>
          </a:prstGeom>
          <a:solidFill>
            <a:srgbClr val="F5F5F2"/>
          </a:solidFill>
          <a:ln w="9525">
            <a:solidFill>
              <a:srgbClr val="D9D9D4"/>
            </a:solidFill>
            <a:prstDash val="solid"/>
          </a:ln>
        </p:spPr>
      </p:sp>
      <p:sp>
        <p:nvSpPr>
          <p:cNvPr id="5" name="Text 3"/>
          <p:cNvSpPr/>
          <p:nvPr/>
        </p:nvSpPr>
        <p:spPr>
          <a:xfrm>
            <a:off x="713232" y="157276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Imported &amp; Local Gilts</a:t>
            </a:r>
            <a:endParaRPr lang="en-US" sz="1300" dirty="0"/>
          </a:p>
        </p:txBody>
      </p:sp>
      <p:sp>
        <p:nvSpPr>
          <p:cNvPr id="6" name="Text 4"/>
          <p:cNvSpPr/>
          <p:nvPr/>
        </p:nvSpPr>
        <p:spPr>
          <a:xfrm>
            <a:off x="713232" y="192024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Tracked from import / weaning through every stage: quarantine, weaning, farrowing, dry sow</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Feed cost accumulated automatically at each stage, by batch</a:t>
            </a:r>
            <a:endParaRPr lang="en-US" sz="1050" dirty="0"/>
          </a:p>
        </p:txBody>
      </p:sp>
      <p:sp>
        <p:nvSpPr>
          <p:cNvPr id="7" name="Shape 5"/>
          <p:cNvSpPr/>
          <p:nvPr/>
        </p:nvSpPr>
        <p:spPr>
          <a:xfrm>
            <a:off x="6263640" y="1463040"/>
            <a:ext cx="5349240" cy="1783080"/>
          </a:xfrm>
          <a:prstGeom prst="roundRect">
            <a:avLst>
              <a:gd name="adj" fmla="val 3077"/>
            </a:avLst>
          </a:prstGeom>
          <a:solidFill>
            <a:srgbClr val="F5F5F2"/>
          </a:solidFill>
          <a:ln w="9525">
            <a:solidFill>
              <a:srgbClr val="D9D9D4"/>
            </a:solidFill>
            <a:prstDash val="solid"/>
          </a:ln>
        </p:spPr>
      </p:sp>
      <p:sp>
        <p:nvSpPr>
          <p:cNvPr id="8" name="Text 6"/>
          <p:cNvSpPr/>
          <p:nvPr/>
        </p:nvSpPr>
        <p:spPr>
          <a:xfrm>
            <a:off x="6428232" y="157276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Imported Boars</a:t>
            </a:r>
            <a:endParaRPr lang="en-US" sz="1300" dirty="0"/>
          </a:p>
        </p:txBody>
      </p:sp>
      <p:sp>
        <p:nvSpPr>
          <p:cNvPr id="9" name="Text 7"/>
          <p:cNvSpPr/>
          <p:nvPr/>
        </p:nvSpPr>
        <p:spPr>
          <a:xfrm>
            <a:off x="6428232" y="192024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Landing cost, quarantine and feed cost tracked from import to productive use</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Monthly amortisation calculated automatically</a:t>
            </a:r>
            <a:endParaRPr lang="en-US" sz="1050" dirty="0"/>
          </a:p>
        </p:txBody>
      </p:sp>
      <p:sp>
        <p:nvSpPr>
          <p:cNvPr id="10" name="Shape 8"/>
          <p:cNvSpPr/>
          <p:nvPr/>
        </p:nvSpPr>
        <p:spPr>
          <a:xfrm>
            <a:off x="548640" y="3474720"/>
            <a:ext cx="5349240" cy="1783080"/>
          </a:xfrm>
          <a:prstGeom prst="roundRect">
            <a:avLst>
              <a:gd name="adj" fmla="val 3077"/>
            </a:avLst>
          </a:prstGeom>
          <a:solidFill>
            <a:srgbClr val="F5F5F2"/>
          </a:solidFill>
          <a:ln w="9525">
            <a:solidFill>
              <a:srgbClr val="D9D9D4"/>
            </a:solidFill>
            <a:prstDash val="solid"/>
          </a:ln>
        </p:spPr>
      </p:sp>
      <p:sp>
        <p:nvSpPr>
          <p:cNvPr id="11" name="Text 9"/>
          <p:cNvSpPr/>
          <p:nvPr/>
        </p:nvSpPr>
        <p:spPr>
          <a:xfrm>
            <a:off x="713232" y="358444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Boar &amp; Semen Costing</a:t>
            </a:r>
            <a:endParaRPr lang="en-US" sz="1300" dirty="0"/>
          </a:p>
        </p:txBody>
      </p:sp>
      <p:sp>
        <p:nvSpPr>
          <p:cNvPr id="12" name="Text 10"/>
          <p:cNvSpPr/>
          <p:nvPr/>
        </p:nvSpPr>
        <p:spPr>
          <a:xfrm>
            <a:off x="713232" y="393192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Automatically works out the actual unit cost per semen dose</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Based on boar cost, feed cost and running costs</a:t>
            </a:r>
            <a:endParaRPr lang="en-US" sz="1050" dirty="0"/>
          </a:p>
        </p:txBody>
      </p:sp>
      <p:sp>
        <p:nvSpPr>
          <p:cNvPr id="13" name="Shape 11"/>
          <p:cNvSpPr/>
          <p:nvPr/>
        </p:nvSpPr>
        <p:spPr>
          <a:xfrm>
            <a:off x="6263640" y="3474720"/>
            <a:ext cx="5349240" cy="1783080"/>
          </a:xfrm>
          <a:prstGeom prst="roundRect">
            <a:avLst>
              <a:gd name="adj" fmla="val 3077"/>
            </a:avLst>
          </a:prstGeom>
          <a:solidFill>
            <a:srgbClr val="F5F5F2"/>
          </a:solidFill>
          <a:ln w="9525">
            <a:solidFill>
              <a:srgbClr val="D9D9D4"/>
            </a:solidFill>
            <a:prstDash val="solid"/>
          </a:ln>
        </p:spPr>
      </p:sp>
      <p:sp>
        <p:nvSpPr>
          <p:cNvPr id="14" name="Text 12"/>
          <p:cNvSpPr/>
          <p:nvPr/>
        </p:nvSpPr>
        <p:spPr>
          <a:xfrm>
            <a:off x="6428232" y="3584448"/>
            <a:ext cx="5020056" cy="320040"/>
          </a:xfrm>
          <a:prstGeom prst="rect">
            <a:avLst/>
          </a:prstGeom>
          <a:noFill/>
          <a:ln/>
        </p:spPr>
        <p:txBody>
          <a:bodyPr wrap="square" lIns="0" tIns="0" rIns="0" bIns="0" rtlCol="0" anchor="ctr"/>
          <a:lstStyle/>
          <a:p>
            <a:pPr marL="0" indent="0">
              <a:buNone/>
            </a:pPr>
            <a:r>
              <a:rPr lang="en-US" sz="1300" b="1" dirty="0">
                <a:solidFill>
                  <a:srgbClr val="1F3B2E"/>
                </a:solidFill>
                <a:latin typeface="Cambria" pitchFamily="34" charset="0"/>
                <a:ea typeface="Cambria" pitchFamily="34" charset="-122"/>
                <a:cs typeface="Cambria" pitchFamily="34" charset="-120"/>
              </a:rPr>
              <a:t>Residual Value &amp; Fair Value</a:t>
            </a:r>
            <a:endParaRPr lang="en-US" sz="1300" dirty="0"/>
          </a:p>
        </p:txBody>
      </p:sp>
      <p:sp>
        <p:nvSpPr>
          <p:cNvPr id="15" name="Text 13"/>
          <p:cNvSpPr/>
          <p:nvPr/>
        </p:nvSpPr>
        <p:spPr>
          <a:xfrm>
            <a:off x="6428232" y="3931920"/>
            <a:ext cx="5020056" cy="118872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Residual value calculated automatically (e.g. at 9 months for imported sows)</a:t>
            </a:r>
            <a:endParaRPr lang="en-US" sz="1050" dirty="0"/>
          </a:p>
          <a:p>
            <a:pPr marL="203200" indent="-203200">
              <a:lnSpc>
                <a:spcPct val="110000"/>
              </a:lnSpc>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Monthly amortisation posted straight into D365BC for accurate fair-value accounting</a:t>
            </a:r>
            <a:endParaRPr lang="en-US" sz="1050" dirty="0"/>
          </a:p>
        </p:txBody>
      </p:sp>
      <p:sp>
        <p:nvSpPr>
          <p:cNvPr id="16" name="Text 14"/>
          <p:cNvSpPr/>
          <p:nvPr/>
        </p:nvSpPr>
        <p:spPr>
          <a:xfrm>
            <a:off x="548640" y="5623560"/>
            <a:ext cx="11064240" cy="502920"/>
          </a:xfrm>
          <a:prstGeom prst="rect">
            <a:avLst/>
          </a:prstGeom>
          <a:noFill/>
          <a:ln/>
        </p:spPr>
        <p:txBody>
          <a:bodyPr wrap="square" lIns="0" tIns="0" rIns="0" bIns="0" rtlCol="0" anchor="ctr"/>
          <a:lstStyle/>
          <a:p>
            <a:pPr marL="0" indent="0">
              <a:lnSpc>
                <a:spcPct val="120000"/>
              </a:lnSpc>
              <a:buNone/>
            </a:pPr>
            <a:r>
              <a:rPr lang="en-US" sz="1200" b="1" i="1" dirty="0">
                <a:solidFill>
                  <a:srgbClr val="1F3B2E"/>
                </a:solidFill>
                <a:latin typeface="Calibri" pitchFamily="34" charset="0"/>
                <a:ea typeface="Calibri" pitchFamily="34" charset="-122"/>
                <a:cs typeface="Calibri" pitchFamily="34" charset="-120"/>
              </a:rPr>
              <a:t>In short:  </a:t>
            </a:r>
            <a:r>
              <a:rPr lang="en-US" sz="1200" i="1" dirty="0">
                <a:solidFill>
                  <a:srgbClr val="2B2B2B"/>
                </a:solidFill>
                <a:latin typeface="Calibri" pitchFamily="34" charset="0"/>
                <a:ea typeface="Calibri" pitchFamily="34" charset="-122"/>
                <a:cs typeface="Calibri" pitchFamily="34" charset="-120"/>
              </a:rPr>
              <a:t>cost and asset data updates in real time, giving a batch-wise view of true cost and profitability, the same view shown in the finance system.</a:t>
            </a:r>
            <a:endParaRPr lang="en-US" sz="1200" dirty="0"/>
          </a:p>
        </p:txBody>
      </p:sp>
      <p:sp>
        <p:nvSpPr>
          <p:cNvPr id="17" name="Text 15"/>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8" name="Text 1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Scope &amp; Deliverables</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  |  Phase 1 work, grouped into packages</a:t>
            </a:r>
            <a:endParaRPr lang="en-US" sz="1250" dirty="0">
              <a:solidFill>
                <a:schemeClr val="accent1"/>
              </a:solidFill>
            </a:endParaRPr>
          </a:p>
        </p:txBody>
      </p:sp>
      <p:graphicFrame>
        <p:nvGraphicFramePr>
          <p:cNvPr id="14" name="Table 0"/>
          <p:cNvGraphicFramePr>
            <a:graphicFrameLocks noGrp="1"/>
          </p:cNvGraphicFramePr>
          <p:nvPr>
            <p:extLst>
              <p:ext uri="{D42A27DB-BD31-4B8C-83A1-F6EECF244321}">
                <p14:modId xmlns:p14="http://schemas.microsoft.com/office/powerpoint/2010/main" val="3996135624"/>
              </p:ext>
            </p:extLst>
          </p:nvPr>
        </p:nvGraphicFramePr>
        <p:xfrm>
          <a:off x="548640" y="1463038"/>
          <a:ext cx="11064240" cy="4100999"/>
        </p:xfrm>
        <a:graphic>
          <a:graphicData uri="http://schemas.openxmlformats.org/drawingml/2006/table">
            <a:tbl>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383379">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Work Package</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What It Covers</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Master Data &amp; Farm Setup</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Breed master, animal register, farm/location hierarchy, silo allocation, item master, farm resources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Feed Management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Feed forecast planning &amp; reports, automated feed cost posting</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Batch &amp; Lifecycle Management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Batch scheduling &amp; creation, resource allocation, stage-wise entry, animal transfer traceability</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Animal Health</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Animal health card and full treatment history</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Transfers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Transfer requests and transfer in/out between farm locations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RFID &amp; AI Capabilities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RFID tagging, AI-driven schedules, semen production tracking, QR traceability, cost allocation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Applications &amp; Field Capture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Web application, mobile app (online/offline), photo capture by stage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Finance &amp; Procurement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Procurement and petty cash requisitions, integrated with D365BC</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8"/>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Dashboards &amp; Reporting</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Real-time dashboards, 16 standard reports, 8 custom reports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1762">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System Integration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NAVFarm Connector, D365BC stock transfer integration, biological asset module, Pig Vision integration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10"/>
                  </a:ext>
                </a:extLst>
              </a:tr>
            </a:tbl>
          </a:graphicData>
        </a:graphic>
      </p:graphicFrame>
      <p:sp>
        <p:nvSpPr>
          <p:cNvPr id="5" name="Text 2"/>
          <p:cNvSpPr/>
          <p:nvPr/>
        </p:nvSpPr>
        <p:spPr>
          <a:xfrm>
            <a:off x="548640" y="6035040"/>
            <a:ext cx="11064240" cy="274320"/>
          </a:xfrm>
          <a:prstGeom prst="rect">
            <a:avLst/>
          </a:prstGeom>
          <a:noFill/>
          <a:ln/>
        </p:spPr>
        <p:txBody>
          <a:bodyPr wrap="square" lIns="0" tIns="0" rIns="0" bIns="0" rtlCol="0" anchor="ctr"/>
          <a:lstStyle/>
          <a:p>
            <a:pPr marL="0" indent="0">
              <a:buNone/>
            </a:pPr>
            <a:r>
              <a:rPr lang="en-US" sz="1050" i="1" dirty="0">
                <a:solidFill>
                  <a:srgbClr val="6E6E6E"/>
                </a:solidFill>
                <a:latin typeface="Calibri" pitchFamily="34" charset="0"/>
                <a:ea typeface="Calibri" pitchFamily="34" charset="-122"/>
                <a:cs typeface="Calibri" pitchFamily="34" charset="-120"/>
              </a:rPr>
              <a:t>Note: Scope is limited to the items listed in the signed proposal. Anything extra goes through the Change Request process.</a:t>
            </a:r>
            <a:endParaRPr lang="en-US" sz="1050" dirty="0"/>
          </a:p>
        </p:txBody>
      </p:sp>
      <p:sp>
        <p:nvSpPr>
          <p:cNvPr id="6" name="Text 3"/>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7" name="Text 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Implementation Methodology</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  |  How we will get there, step by step</a:t>
            </a:r>
            <a:endParaRPr lang="en-US" sz="1250" dirty="0">
              <a:solidFill>
                <a:schemeClr val="accent1"/>
              </a:solidFill>
            </a:endParaRPr>
          </a:p>
        </p:txBody>
      </p:sp>
      <p:sp>
        <p:nvSpPr>
          <p:cNvPr id="4" name="Text 2"/>
          <p:cNvSpPr/>
          <p:nvPr/>
        </p:nvSpPr>
        <p:spPr>
          <a:xfrm>
            <a:off x="548640" y="146304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1</a:t>
            </a:r>
            <a:endParaRPr lang="en-US" sz="1250" dirty="0"/>
          </a:p>
        </p:txBody>
      </p:sp>
      <p:sp>
        <p:nvSpPr>
          <p:cNvPr id="5" name="Text 3"/>
          <p:cNvSpPr/>
          <p:nvPr/>
        </p:nvSpPr>
        <p:spPr>
          <a:xfrm>
            <a:off x="960120" y="146304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Project Kick-off</a:t>
            </a:r>
            <a:endParaRPr lang="en-US" sz="1200" dirty="0"/>
          </a:p>
        </p:txBody>
      </p:sp>
      <p:sp>
        <p:nvSpPr>
          <p:cNvPr id="6" name="Text 4"/>
          <p:cNvSpPr/>
          <p:nvPr/>
        </p:nvSpPr>
        <p:spPr>
          <a:xfrm>
            <a:off x="4160520" y="146304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Formal start; team and governance confirmed.</a:t>
            </a:r>
            <a:endParaRPr lang="en-US" sz="1150" dirty="0"/>
          </a:p>
        </p:txBody>
      </p:sp>
      <p:sp>
        <p:nvSpPr>
          <p:cNvPr id="7" name="Shape 5"/>
          <p:cNvSpPr/>
          <p:nvPr/>
        </p:nvSpPr>
        <p:spPr>
          <a:xfrm>
            <a:off x="548640" y="1897380"/>
            <a:ext cx="11064240" cy="0"/>
          </a:xfrm>
          <a:prstGeom prst="line">
            <a:avLst/>
          </a:prstGeom>
          <a:noFill/>
          <a:ln w="6350">
            <a:solidFill>
              <a:srgbClr val="D9D9D4"/>
            </a:solidFill>
            <a:prstDash val="solid"/>
          </a:ln>
        </p:spPr>
      </p:sp>
      <p:sp>
        <p:nvSpPr>
          <p:cNvPr id="8" name="Text 6"/>
          <p:cNvSpPr/>
          <p:nvPr/>
        </p:nvSpPr>
        <p:spPr>
          <a:xfrm>
            <a:off x="548640" y="189738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2</a:t>
            </a:r>
            <a:endParaRPr lang="en-US" sz="1250" dirty="0"/>
          </a:p>
        </p:txBody>
      </p:sp>
      <p:sp>
        <p:nvSpPr>
          <p:cNvPr id="9" name="Text 7"/>
          <p:cNvSpPr/>
          <p:nvPr/>
        </p:nvSpPr>
        <p:spPr>
          <a:xfrm>
            <a:off x="960120" y="189738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Business Process Study</a:t>
            </a:r>
            <a:endParaRPr lang="en-US" sz="1200" dirty="0"/>
          </a:p>
        </p:txBody>
      </p:sp>
      <p:sp>
        <p:nvSpPr>
          <p:cNvPr id="10" name="Text 8"/>
          <p:cNvSpPr/>
          <p:nvPr/>
        </p:nvSpPr>
        <p:spPr>
          <a:xfrm>
            <a:off x="4160520" y="189738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We study how farms and finance currently work, on-site and remotely.</a:t>
            </a:r>
            <a:endParaRPr lang="en-US" sz="1150" dirty="0"/>
          </a:p>
        </p:txBody>
      </p:sp>
      <p:sp>
        <p:nvSpPr>
          <p:cNvPr id="11" name="Shape 9"/>
          <p:cNvSpPr/>
          <p:nvPr/>
        </p:nvSpPr>
        <p:spPr>
          <a:xfrm>
            <a:off x="548640" y="2331720"/>
            <a:ext cx="11064240" cy="0"/>
          </a:xfrm>
          <a:prstGeom prst="line">
            <a:avLst/>
          </a:prstGeom>
          <a:noFill/>
          <a:ln w="6350">
            <a:solidFill>
              <a:srgbClr val="D9D9D4"/>
            </a:solidFill>
            <a:prstDash val="solid"/>
          </a:ln>
        </p:spPr>
      </p:sp>
      <p:sp>
        <p:nvSpPr>
          <p:cNvPr id="12" name="Text 10"/>
          <p:cNvSpPr/>
          <p:nvPr/>
        </p:nvSpPr>
        <p:spPr>
          <a:xfrm>
            <a:off x="548640" y="233172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960120" y="233172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Business Blueprint</a:t>
            </a:r>
            <a:endParaRPr lang="en-US" sz="1200" dirty="0"/>
          </a:p>
        </p:txBody>
      </p:sp>
      <p:sp>
        <p:nvSpPr>
          <p:cNvPr id="14" name="Text 12"/>
          <p:cNvSpPr/>
          <p:nvPr/>
        </p:nvSpPr>
        <p:spPr>
          <a:xfrm>
            <a:off x="4160520" y="233172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We document and agree exactly what will be built, and both sides sign off.</a:t>
            </a:r>
            <a:endParaRPr lang="en-US" sz="1150" dirty="0"/>
          </a:p>
        </p:txBody>
      </p:sp>
      <p:sp>
        <p:nvSpPr>
          <p:cNvPr id="15" name="Shape 13"/>
          <p:cNvSpPr/>
          <p:nvPr/>
        </p:nvSpPr>
        <p:spPr>
          <a:xfrm>
            <a:off x="548640" y="2766060"/>
            <a:ext cx="11064240" cy="0"/>
          </a:xfrm>
          <a:prstGeom prst="line">
            <a:avLst/>
          </a:prstGeom>
          <a:noFill/>
          <a:ln w="6350">
            <a:solidFill>
              <a:srgbClr val="D9D9D4"/>
            </a:solidFill>
            <a:prstDash val="solid"/>
          </a:ln>
        </p:spPr>
      </p:sp>
      <p:sp>
        <p:nvSpPr>
          <p:cNvPr id="16" name="Text 14"/>
          <p:cNvSpPr/>
          <p:nvPr/>
        </p:nvSpPr>
        <p:spPr>
          <a:xfrm>
            <a:off x="548640" y="276606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4</a:t>
            </a:r>
            <a:endParaRPr lang="en-US" sz="1250" dirty="0"/>
          </a:p>
        </p:txBody>
      </p:sp>
      <p:sp>
        <p:nvSpPr>
          <p:cNvPr id="17" name="Text 15"/>
          <p:cNvSpPr/>
          <p:nvPr/>
        </p:nvSpPr>
        <p:spPr>
          <a:xfrm>
            <a:off x="960120" y="276606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System Configuration</a:t>
            </a:r>
            <a:endParaRPr lang="en-US" sz="1200" dirty="0"/>
          </a:p>
        </p:txBody>
      </p:sp>
      <p:sp>
        <p:nvSpPr>
          <p:cNvPr id="18" name="Text 16"/>
          <p:cNvSpPr/>
          <p:nvPr/>
        </p:nvSpPr>
        <p:spPr>
          <a:xfrm>
            <a:off x="4160520" y="276606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NAVFarm is configured to match the signed-off blueprint.</a:t>
            </a:r>
            <a:endParaRPr lang="en-US" sz="1150" dirty="0"/>
          </a:p>
        </p:txBody>
      </p:sp>
      <p:sp>
        <p:nvSpPr>
          <p:cNvPr id="19" name="Shape 17"/>
          <p:cNvSpPr/>
          <p:nvPr/>
        </p:nvSpPr>
        <p:spPr>
          <a:xfrm>
            <a:off x="548640" y="3200400"/>
            <a:ext cx="11064240" cy="0"/>
          </a:xfrm>
          <a:prstGeom prst="line">
            <a:avLst/>
          </a:prstGeom>
          <a:noFill/>
          <a:ln w="6350">
            <a:solidFill>
              <a:srgbClr val="D9D9D4"/>
            </a:solidFill>
            <a:prstDash val="solid"/>
          </a:ln>
        </p:spPr>
      </p:sp>
      <p:sp>
        <p:nvSpPr>
          <p:cNvPr id="20" name="Text 18"/>
          <p:cNvSpPr/>
          <p:nvPr/>
        </p:nvSpPr>
        <p:spPr>
          <a:xfrm>
            <a:off x="548640" y="320040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5</a:t>
            </a:r>
            <a:endParaRPr lang="en-US" sz="1250" dirty="0"/>
          </a:p>
        </p:txBody>
      </p:sp>
      <p:sp>
        <p:nvSpPr>
          <p:cNvPr id="21" name="Text 19"/>
          <p:cNvSpPr/>
          <p:nvPr/>
        </p:nvSpPr>
        <p:spPr>
          <a:xfrm>
            <a:off x="960120" y="320040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Conference Room Pilot (CRP)</a:t>
            </a:r>
            <a:endParaRPr lang="en-US" sz="1200" dirty="0"/>
          </a:p>
        </p:txBody>
      </p:sp>
      <p:sp>
        <p:nvSpPr>
          <p:cNvPr id="22" name="Text 20"/>
          <p:cNvSpPr/>
          <p:nvPr/>
        </p:nvSpPr>
        <p:spPr>
          <a:xfrm>
            <a:off x="4160520" y="320040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We walk the configured system through with your team before going further.</a:t>
            </a:r>
            <a:endParaRPr lang="en-US" sz="1150" dirty="0"/>
          </a:p>
        </p:txBody>
      </p:sp>
      <p:sp>
        <p:nvSpPr>
          <p:cNvPr id="23" name="Shape 21"/>
          <p:cNvSpPr/>
          <p:nvPr/>
        </p:nvSpPr>
        <p:spPr>
          <a:xfrm>
            <a:off x="548640" y="3634740"/>
            <a:ext cx="11064240" cy="0"/>
          </a:xfrm>
          <a:prstGeom prst="line">
            <a:avLst/>
          </a:prstGeom>
          <a:noFill/>
          <a:ln w="6350">
            <a:solidFill>
              <a:srgbClr val="D9D9D4"/>
            </a:solidFill>
            <a:prstDash val="solid"/>
          </a:ln>
        </p:spPr>
      </p:sp>
      <p:sp>
        <p:nvSpPr>
          <p:cNvPr id="24" name="Text 22"/>
          <p:cNvSpPr/>
          <p:nvPr/>
        </p:nvSpPr>
        <p:spPr>
          <a:xfrm>
            <a:off x="548640" y="363474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6</a:t>
            </a:r>
            <a:endParaRPr lang="en-US" sz="1250" dirty="0"/>
          </a:p>
        </p:txBody>
      </p:sp>
      <p:sp>
        <p:nvSpPr>
          <p:cNvPr id="25" name="Text 23"/>
          <p:cNvSpPr/>
          <p:nvPr/>
        </p:nvSpPr>
        <p:spPr>
          <a:xfrm>
            <a:off x="960120" y="363474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Integration &amp; Customization</a:t>
            </a:r>
            <a:endParaRPr lang="en-US" sz="1200" dirty="0"/>
          </a:p>
        </p:txBody>
      </p:sp>
      <p:sp>
        <p:nvSpPr>
          <p:cNvPr id="26" name="Text 24"/>
          <p:cNvSpPr/>
          <p:nvPr/>
        </p:nvSpPr>
        <p:spPr>
          <a:xfrm>
            <a:off x="4160520" y="363474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We connect NAVFarm to D365BC and Pig Vision.</a:t>
            </a:r>
            <a:endParaRPr lang="en-US" sz="1150" dirty="0"/>
          </a:p>
        </p:txBody>
      </p:sp>
      <p:sp>
        <p:nvSpPr>
          <p:cNvPr id="27" name="Shape 25"/>
          <p:cNvSpPr/>
          <p:nvPr/>
        </p:nvSpPr>
        <p:spPr>
          <a:xfrm>
            <a:off x="548640" y="4069080"/>
            <a:ext cx="11064240" cy="0"/>
          </a:xfrm>
          <a:prstGeom prst="line">
            <a:avLst/>
          </a:prstGeom>
          <a:noFill/>
          <a:ln w="6350">
            <a:solidFill>
              <a:srgbClr val="D9D9D4"/>
            </a:solidFill>
            <a:prstDash val="solid"/>
          </a:ln>
        </p:spPr>
      </p:sp>
      <p:sp>
        <p:nvSpPr>
          <p:cNvPr id="28" name="Text 26"/>
          <p:cNvSpPr/>
          <p:nvPr/>
        </p:nvSpPr>
        <p:spPr>
          <a:xfrm>
            <a:off x="548640" y="406908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7</a:t>
            </a:r>
            <a:endParaRPr lang="en-US" sz="1250" dirty="0"/>
          </a:p>
        </p:txBody>
      </p:sp>
      <p:sp>
        <p:nvSpPr>
          <p:cNvPr id="29" name="Text 27"/>
          <p:cNvSpPr/>
          <p:nvPr/>
        </p:nvSpPr>
        <p:spPr>
          <a:xfrm>
            <a:off x="960120" y="406908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Key User Training</a:t>
            </a:r>
            <a:endParaRPr lang="en-US" sz="1200" dirty="0"/>
          </a:p>
        </p:txBody>
      </p:sp>
      <p:sp>
        <p:nvSpPr>
          <p:cNvPr id="30" name="Text 28"/>
          <p:cNvSpPr/>
          <p:nvPr/>
        </p:nvSpPr>
        <p:spPr>
          <a:xfrm>
            <a:off x="4160520" y="406908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Your key users are trained to use the new system.</a:t>
            </a:r>
            <a:endParaRPr lang="en-US" sz="1150" dirty="0"/>
          </a:p>
        </p:txBody>
      </p:sp>
      <p:sp>
        <p:nvSpPr>
          <p:cNvPr id="31" name="Shape 29"/>
          <p:cNvSpPr/>
          <p:nvPr/>
        </p:nvSpPr>
        <p:spPr>
          <a:xfrm>
            <a:off x="548640" y="4503420"/>
            <a:ext cx="11064240" cy="0"/>
          </a:xfrm>
          <a:prstGeom prst="line">
            <a:avLst/>
          </a:prstGeom>
          <a:noFill/>
          <a:ln w="6350">
            <a:solidFill>
              <a:srgbClr val="D9D9D4"/>
            </a:solidFill>
            <a:prstDash val="solid"/>
          </a:ln>
        </p:spPr>
      </p:sp>
      <p:sp>
        <p:nvSpPr>
          <p:cNvPr id="32" name="Text 30"/>
          <p:cNvSpPr/>
          <p:nvPr/>
        </p:nvSpPr>
        <p:spPr>
          <a:xfrm>
            <a:off x="548640" y="450342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8</a:t>
            </a:r>
            <a:endParaRPr lang="en-US" sz="1250" dirty="0"/>
          </a:p>
        </p:txBody>
      </p:sp>
      <p:sp>
        <p:nvSpPr>
          <p:cNvPr id="33" name="Text 31"/>
          <p:cNvSpPr/>
          <p:nvPr/>
        </p:nvSpPr>
        <p:spPr>
          <a:xfrm>
            <a:off x="960120" y="450342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User Testing</a:t>
            </a:r>
            <a:endParaRPr lang="en-US" sz="1200" dirty="0"/>
          </a:p>
        </p:txBody>
      </p:sp>
      <p:sp>
        <p:nvSpPr>
          <p:cNvPr id="34" name="Text 32"/>
          <p:cNvSpPr/>
          <p:nvPr/>
        </p:nvSpPr>
        <p:spPr>
          <a:xfrm>
            <a:off x="4160520" y="450342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Key users test the system against real scenarios.</a:t>
            </a:r>
            <a:endParaRPr lang="en-US" sz="1150" dirty="0"/>
          </a:p>
        </p:txBody>
      </p:sp>
      <p:sp>
        <p:nvSpPr>
          <p:cNvPr id="35" name="Shape 33"/>
          <p:cNvSpPr/>
          <p:nvPr/>
        </p:nvSpPr>
        <p:spPr>
          <a:xfrm>
            <a:off x="548640" y="4937760"/>
            <a:ext cx="11064240" cy="0"/>
          </a:xfrm>
          <a:prstGeom prst="line">
            <a:avLst/>
          </a:prstGeom>
          <a:noFill/>
          <a:ln w="6350">
            <a:solidFill>
              <a:srgbClr val="D9D9D4"/>
            </a:solidFill>
            <a:prstDash val="solid"/>
          </a:ln>
        </p:spPr>
      </p:sp>
      <p:sp>
        <p:nvSpPr>
          <p:cNvPr id="36" name="Text 34"/>
          <p:cNvSpPr/>
          <p:nvPr/>
        </p:nvSpPr>
        <p:spPr>
          <a:xfrm>
            <a:off x="548640" y="493776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9</a:t>
            </a:r>
            <a:endParaRPr lang="en-US" sz="1250" dirty="0"/>
          </a:p>
        </p:txBody>
      </p:sp>
      <p:sp>
        <p:nvSpPr>
          <p:cNvPr id="37" name="Text 35"/>
          <p:cNvSpPr/>
          <p:nvPr/>
        </p:nvSpPr>
        <p:spPr>
          <a:xfrm>
            <a:off x="960120" y="493776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Data Migration &amp; Go-Live Prep</a:t>
            </a:r>
            <a:endParaRPr lang="en-US" sz="1200" dirty="0"/>
          </a:p>
        </p:txBody>
      </p:sp>
      <p:sp>
        <p:nvSpPr>
          <p:cNvPr id="38" name="Text 36"/>
          <p:cNvSpPr/>
          <p:nvPr/>
        </p:nvSpPr>
        <p:spPr>
          <a:xfrm>
            <a:off x="4160520" y="493776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Four years of historical data is loaded and checked.</a:t>
            </a:r>
            <a:endParaRPr lang="en-US" sz="1150" dirty="0"/>
          </a:p>
        </p:txBody>
      </p:sp>
      <p:sp>
        <p:nvSpPr>
          <p:cNvPr id="39" name="Shape 37"/>
          <p:cNvSpPr/>
          <p:nvPr/>
        </p:nvSpPr>
        <p:spPr>
          <a:xfrm>
            <a:off x="548640" y="5372100"/>
            <a:ext cx="11064240" cy="0"/>
          </a:xfrm>
          <a:prstGeom prst="line">
            <a:avLst/>
          </a:prstGeom>
          <a:noFill/>
          <a:ln w="6350">
            <a:solidFill>
              <a:srgbClr val="D9D9D4"/>
            </a:solidFill>
            <a:prstDash val="solid"/>
          </a:ln>
        </p:spPr>
      </p:sp>
      <p:sp>
        <p:nvSpPr>
          <p:cNvPr id="40" name="Text 38"/>
          <p:cNvSpPr/>
          <p:nvPr/>
        </p:nvSpPr>
        <p:spPr>
          <a:xfrm>
            <a:off x="548640" y="537210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10</a:t>
            </a:r>
            <a:endParaRPr lang="en-US" sz="1250" dirty="0"/>
          </a:p>
        </p:txBody>
      </p:sp>
      <p:sp>
        <p:nvSpPr>
          <p:cNvPr id="41" name="Text 39"/>
          <p:cNvSpPr/>
          <p:nvPr/>
        </p:nvSpPr>
        <p:spPr>
          <a:xfrm>
            <a:off x="960120" y="537210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Go-Live</a:t>
            </a:r>
            <a:endParaRPr lang="en-US" sz="1200" dirty="0"/>
          </a:p>
        </p:txBody>
      </p:sp>
      <p:sp>
        <p:nvSpPr>
          <p:cNvPr id="42" name="Text 40"/>
          <p:cNvSpPr/>
          <p:nvPr/>
        </p:nvSpPr>
        <p:spPr>
          <a:xfrm>
            <a:off x="4160520" y="537210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The system goes live across all farms.</a:t>
            </a:r>
            <a:endParaRPr lang="en-US" sz="1150" dirty="0"/>
          </a:p>
        </p:txBody>
      </p:sp>
      <p:sp>
        <p:nvSpPr>
          <p:cNvPr id="43" name="Shape 41"/>
          <p:cNvSpPr/>
          <p:nvPr/>
        </p:nvSpPr>
        <p:spPr>
          <a:xfrm>
            <a:off x="548640" y="5806440"/>
            <a:ext cx="11064240" cy="0"/>
          </a:xfrm>
          <a:prstGeom prst="line">
            <a:avLst/>
          </a:prstGeom>
          <a:noFill/>
          <a:ln w="6350">
            <a:solidFill>
              <a:srgbClr val="D9D9D4"/>
            </a:solidFill>
            <a:prstDash val="solid"/>
          </a:ln>
        </p:spPr>
      </p:sp>
      <p:sp>
        <p:nvSpPr>
          <p:cNvPr id="44" name="Text 42"/>
          <p:cNvSpPr/>
          <p:nvPr/>
        </p:nvSpPr>
        <p:spPr>
          <a:xfrm>
            <a:off x="548640" y="5806440"/>
            <a:ext cx="365760" cy="434340"/>
          </a:xfrm>
          <a:prstGeom prst="rect">
            <a:avLst/>
          </a:prstGeom>
          <a:noFill/>
          <a:ln/>
        </p:spPr>
        <p:txBody>
          <a:bodyPr wrap="square" lIns="0" tIns="0" rIns="0" bIns="0" rtlCol="0" anchor="ctr"/>
          <a:lstStyle/>
          <a:p>
            <a:pPr marL="0" indent="0">
              <a:buNone/>
            </a:pPr>
            <a:r>
              <a:rPr lang="en-US" sz="1250" b="1" dirty="0">
                <a:solidFill>
                  <a:srgbClr val="6B8E6E"/>
                </a:solidFill>
                <a:latin typeface="Cambria" pitchFamily="34" charset="0"/>
                <a:ea typeface="Cambria" pitchFamily="34" charset="-122"/>
                <a:cs typeface="Cambria" pitchFamily="34" charset="-120"/>
              </a:rPr>
              <a:t>11</a:t>
            </a:r>
            <a:endParaRPr lang="en-US" sz="1250" dirty="0"/>
          </a:p>
        </p:txBody>
      </p:sp>
      <p:sp>
        <p:nvSpPr>
          <p:cNvPr id="45" name="Text 43"/>
          <p:cNvSpPr/>
          <p:nvPr/>
        </p:nvSpPr>
        <p:spPr>
          <a:xfrm>
            <a:off x="960120" y="5806440"/>
            <a:ext cx="3108960" cy="434340"/>
          </a:xfrm>
          <a:prstGeom prst="rect">
            <a:avLst/>
          </a:prstGeom>
          <a:noFill/>
          <a:ln/>
        </p:spPr>
        <p:txBody>
          <a:bodyPr wrap="square" lIns="0" tIns="0" rIns="0" bIns="0" rtlCol="0" anchor="ctr"/>
          <a:lstStyle/>
          <a:p>
            <a:pPr marL="0" indent="0">
              <a:buNone/>
            </a:pPr>
            <a:r>
              <a:rPr lang="en-US" sz="1200" b="1" dirty="0">
                <a:solidFill>
                  <a:srgbClr val="1F3B2E"/>
                </a:solidFill>
                <a:latin typeface="Calibri" pitchFamily="34" charset="0"/>
                <a:ea typeface="Calibri" pitchFamily="34" charset="-122"/>
                <a:cs typeface="Calibri" pitchFamily="34" charset="-120"/>
              </a:rPr>
              <a:t>Post Go-Live Support</a:t>
            </a:r>
            <a:endParaRPr lang="en-US" sz="1200" dirty="0"/>
          </a:p>
        </p:txBody>
      </p:sp>
      <p:sp>
        <p:nvSpPr>
          <p:cNvPr id="46" name="Text 44"/>
          <p:cNvSpPr/>
          <p:nvPr/>
        </p:nvSpPr>
        <p:spPr>
          <a:xfrm>
            <a:off x="4160520" y="5806440"/>
            <a:ext cx="7452360" cy="4343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30 days of hands-on support to stabilise the new system.</a:t>
            </a:r>
            <a:endParaRPr lang="en-US" sz="1150" dirty="0"/>
          </a:p>
        </p:txBody>
      </p:sp>
      <p:sp>
        <p:nvSpPr>
          <p:cNvPr id="47" name="Shape 45"/>
          <p:cNvSpPr/>
          <p:nvPr/>
        </p:nvSpPr>
        <p:spPr>
          <a:xfrm>
            <a:off x="548640" y="6240780"/>
            <a:ext cx="11064240" cy="0"/>
          </a:xfrm>
          <a:prstGeom prst="line">
            <a:avLst/>
          </a:prstGeom>
          <a:noFill/>
          <a:ln w="6350">
            <a:solidFill>
              <a:srgbClr val="D9D9D4"/>
            </a:solidFill>
            <a:prstDash val="solid"/>
          </a:ln>
        </p:spPr>
      </p:sp>
      <p:sp>
        <p:nvSpPr>
          <p:cNvPr id="48" name="Text 4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49" name="Text 4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Project Document Exchanges</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What gets shared, in what format, and why</a:t>
            </a:r>
            <a:endParaRPr lang="en-US" sz="1250" dirty="0">
              <a:solidFill>
                <a:schemeClr val="accent1"/>
              </a:solidFill>
            </a:endParaRPr>
          </a:p>
        </p:txBody>
      </p:sp>
      <p:sp>
        <p:nvSpPr>
          <p:cNvPr id="4" name="Text 2"/>
          <p:cNvSpPr/>
          <p:nvPr/>
        </p:nvSpPr>
        <p:spPr>
          <a:xfrm>
            <a:off x="548640" y="1417320"/>
            <a:ext cx="5120640" cy="347472"/>
          </a:xfrm>
          <a:prstGeom prst="rect">
            <a:avLst/>
          </a:prstGeom>
          <a:solidFill>
            <a:srgbClr val="1F3B2E"/>
          </a:solidFill>
          <a:ln/>
        </p:spPr>
        <p:txBody>
          <a:bodyPr wrap="square" lIns="76200" tIns="76200" rIns="76200" bIns="7620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Document</a:t>
            </a:r>
            <a:endParaRPr lang="en-US" sz="1100" dirty="0"/>
          </a:p>
        </p:txBody>
      </p:sp>
      <p:sp>
        <p:nvSpPr>
          <p:cNvPr id="5" name="Text 3"/>
          <p:cNvSpPr/>
          <p:nvPr/>
        </p:nvSpPr>
        <p:spPr>
          <a:xfrm>
            <a:off x="5760720" y="1417320"/>
            <a:ext cx="1463040" cy="347472"/>
          </a:xfrm>
          <a:prstGeom prst="rect">
            <a:avLst/>
          </a:prstGeom>
          <a:solidFill>
            <a:srgbClr val="1F3B2E"/>
          </a:solidFill>
          <a:ln/>
        </p:spPr>
        <p:txBody>
          <a:bodyPr wrap="square" lIns="76200" tIns="76200" rIns="76200" bIns="762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p>
        </p:txBody>
      </p:sp>
      <p:sp>
        <p:nvSpPr>
          <p:cNvPr id="6" name="Text 4"/>
          <p:cNvSpPr/>
          <p:nvPr/>
        </p:nvSpPr>
        <p:spPr>
          <a:xfrm>
            <a:off x="7315200" y="1417320"/>
            <a:ext cx="4297680" cy="347472"/>
          </a:xfrm>
          <a:prstGeom prst="rect">
            <a:avLst/>
          </a:prstGeom>
          <a:solidFill>
            <a:srgbClr val="1F3B2E"/>
          </a:solidFill>
          <a:ln/>
        </p:spPr>
        <p:txBody>
          <a:bodyPr wrap="square" lIns="76200" tIns="76200" rIns="76200" bIns="7620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Purpose / When It's Used</a:t>
            </a:r>
            <a:endParaRPr lang="en-US" sz="1100" dirty="0"/>
          </a:p>
        </p:txBody>
      </p:sp>
      <p:sp>
        <p:nvSpPr>
          <p:cNvPr id="7" name="Shape 5"/>
          <p:cNvSpPr/>
          <p:nvPr/>
        </p:nvSpPr>
        <p:spPr>
          <a:xfrm>
            <a:off x="548640" y="1764792"/>
            <a:ext cx="10607040" cy="420624"/>
          </a:xfrm>
          <a:prstGeom prst="rect">
            <a:avLst/>
          </a:prstGeom>
          <a:solidFill>
            <a:srgbClr val="FFFFFF"/>
          </a:solidFill>
          <a:ln w="6350">
            <a:solidFill>
              <a:srgbClr val="D9D9D4"/>
            </a:solidFill>
            <a:prstDash val="solid"/>
          </a:ln>
        </p:spPr>
      </p:sp>
      <p:sp>
        <p:nvSpPr>
          <p:cNvPr id="8" name="Text 6"/>
          <p:cNvSpPr/>
          <p:nvPr/>
        </p:nvSpPr>
        <p:spPr>
          <a:xfrm>
            <a:off x="685800" y="1764792"/>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Minutes of Meeting (MoM)</a:t>
            </a:r>
            <a:endParaRPr lang="en-US" sz="1050" dirty="0"/>
          </a:p>
        </p:txBody>
      </p:sp>
      <p:sp>
        <p:nvSpPr>
          <p:cNvPr id="9" name="Shape 7"/>
          <p:cNvSpPr/>
          <p:nvPr/>
        </p:nvSpPr>
        <p:spPr>
          <a:xfrm>
            <a:off x="6199632" y="1837944"/>
            <a:ext cx="274320" cy="274320"/>
          </a:xfrm>
          <a:prstGeom prst="roundRect">
            <a:avLst>
              <a:gd name="adj" fmla="val 15000"/>
            </a:avLst>
          </a:prstGeom>
          <a:solidFill>
            <a:srgbClr val="2B579A"/>
          </a:solidFill>
          <a:ln/>
        </p:spPr>
      </p:sp>
      <p:sp>
        <p:nvSpPr>
          <p:cNvPr id="10" name="Text 8"/>
          <p:cNvSpPr/>
          <p:nvPr/>
        </p:nvSpPr>
        <p:spPr>
          <a:xfrm>
            <a:off x="6199632" y="1837944"/>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DOCX</a:t>
            </a:r>
            <a:endParaRPr lang="en-US" sz="700" dirty="0"/>
          </a:p>
        </p:txBody>
      </p:sp>
      <p:sp>
        <p:nvSpPr>
          <p:cNvPr id="11" name="Text 9"/>
          <p:cNvSpPr/>
          <p:nvPr/>
        </p:nvSpPr>
        <p:spPr>
          <a:xfrm>
            <a:off x="7315200" y="1764792"/>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Captures decisions and action items after each meeting</a:t>
            </a:r>
            <a:endParaRPr lang="en-US" sz="1000" dirty="0"/>
          </a:p>
        </p:txBody>
      </p:sp>
      <p:sp>
        <p:nvSpPr>
          <p:cNvPr id="12" name="Shape 10"/>
          <p:cNvSpPr/>
          <p:nvPr/>
        </p:nvSpPr>
        <p:spPr>
          <a:xfrm>
            <a:off x="548640" y="2185416"/>
            <a:ext cx="10607040" cy="420624"/>
          </a:xfrm>
          <a:prstGeom prst="rect">
            <a:avLst/>
          </a:prstGeom>
          <a:solidFill>
            <a:srgbClr val="F5F5F2"/>
          </a:solidFill>
          <a:ln w="6350">
            <a:solidFill>
              <a:srgbClr val="D9D9D4"/>
            </a:solidFill>
            <a:prstDash val="solid"/>
          </a:ln>
        </p:spPr>
      </p:sp>
      <p:sp>
        <p:nvSpPr>
          <p:cNvPr id="13" name="Text 11"/>
          <p:cNvSpPr/>
          <p:nvPr/>
        </p:nvSpPr>
        <p:spPr>
          <a:xfrm>
            <a:off x="685800" y="2185416"/>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Functional Requirement / Business Blueprint (BBP)</a:t>
            </a:r>
            <a:endParaRPr lang="en-US" sz="1050" dirty="0"/>
          </a:p>
        </p:txBody>
      </p:sp>
      <p:sp>
        <p:nvSpPr>
          <p:cNvPr id="14" name="Shape 12"/>
          <p:cNvSpPr/>
          <p:nvPr/>
        </p:nvSpPr>
        <p:spPr>
          <a:xfrm>
            <a:off x="6199632" y="2258568"/>
            <a:ext cx="274320" cy="274320"/>
          </a:xfrm>
          <a:prstGeom prst="roundRect">
            <a:avLst>
              <a:gd name="adj" fmla="val 15000"/>
            </a:avLst>
          </a:prstGeom>
          <a:solidFill>
            <a:srgbClr val="2B579A"/>
          </a:solidFill>
          <a:ln/>
        </p:spPr>
      </p:sp>
      <p:sp>
        <p:nvSpPr>
          <p:cNvPr id="15" name="Text 13"/>
          <p:cNvSpPr/>
          <p:nvPr/>
        </p:nvSpPr>
        <p:spPr>
          <a:xfrm>
            <a:off x="6199632" y="2258568"/>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DOCX</a:t>
            </a:r>
            <a:endParaRPr lang="en-US" sz="700" dirty="0"/>
          </a:p>
        </p:txBody>
      </p:sp>
      <p:sp>
        <p:nvSpPr>
          <p:cNvPr id="16" name="Text 14"/>
          <p:cNvSpPr/>
          <p:nvPr/>
        </p:nvSpPr>
        <p:spPr>
          <a:xfrm>
            <a:off x="7315200" y="2185416"/>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Documents the agreed scope, for formal sign-off</a:t>
            </a:r>
            <a:endParaRPr lang="en-US" sz="1000" dirty="0"/>
          </a:p>
        </p:txBody>
      </p:sp>
      <p:sp>
        <p:nvSpPr>
          <p:cNvPr id="17" name="Shape 15"/>
          <p:cNvSpPr/>
          <p:nvPr/>
        </p:nvSpPr>
        <p:spPr>
          <a:xfrm>
            <a:off x="548640" y="2606040"/>
            <a:ext cx="10607040" cy="420624"/>
          </a:xfrm>
          <a:prstGeom prst="rect">
            <a:avLst/>
          </a:prstGeom>
          <a:solidFill>
            <a:srgbClr val="FFFFFF"/>
          </a:solidFill>
          <a:ln w="6350">
            <a:solidFill>
              <a:srgbClr val="D9D9D4"/>
            </a:solidFill>
            <a:prstDash val="solid"/>
          </a:ln>
        </p:spPr>
      </p:sp>
      <p:sp>
        <p:nvSpPr>
          <p:cNvPr id="18" name="Text 16"/>
          <p:cNvSpPr/>
          <p:nvPr/>
        </p:nvSpPr>
        <p:spPr>
          <a:xfrm>
            <a:off x="685800" y="2606040"/>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Master Data Templates</a:t>
            </a:r>
            <a:endParaRPr lang="en-US" sz="1050" dirty="0"/>
          </a:p>
        </p:txBody>
      </p:sp>
      <p:sp>
        <p:nvSpPr>
          <p:cNvPr id="19" name="Shape 17"/>
          <p:cNvSpPr/>
          <p:nvPr/>
        </p:nvSpPr>
        <p:spPr>
          <a:xfrm>
            <a:off x="6199632" y="2679192"/>
            <a:ext cx="274320" cy="274320"/>
          </a:xfrm>
          <a:prstGeom prst="roundRect">
            <a:avLst>
              <a:gd name="adj" fmla="val 15000"/>
            </a:avLst>
          </a:prstGeom>
          <a:solidFill>
            <a:srgbClr val="1D6F42"/>
          </a:solidFill>
          <a:ln/>
        </p:spPr>
      </p:sp>
      <p:sp>
        <p:nvSpPr>
          <p:cNvPr id="20" name="Text 18"/>
          <p:cNvSpPr/>
          <p:nvPr/>
        </p:nvSpPr>
        <p:spPr>
          <a:xfrm>
            <a:off x="6199632" y="2679192"/>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XLSX</a:t>
            </a:r>
            <a:endParaRPr lang="en-US" sz="700" dirty="0"/>
          </a:p>
        </p:txBody>
      </p:sp>
      <p:sp>
        <p:nvSpPr>
          <p:cNvPr id="21" name="Text 19"/>
          <p:cNvSpPr/>
          <p:nvPr/>
        </p:nvSpPr>
        <p:spPr>
          <a:xfrm>
            <a:off x="7315200" y="2606040"/>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Used to collect and load master and historical farm data</a:t>
            </a:r>
            <a:endParaRPr lang="en-US" sz="1000" dirty="0"/>
          </a:p>
        </p:txBody>
      </p:sp>
      <p:sp>
        <p:nvSpPr>
          <p:cNvPr id="22" name="Shape 20"/>
          <p:cNvSpPr/>
          <p:nvPr/>
        </p:nvSpPr>
        <p:spPr>
          <a:xfrm>
            <a:off x="548640" y="3026664"/>
            <a:ext cx="10607040" cy="420624"/>
          </a:xfrm>
          <a:prstGeom prst="rect">
            <a:avLst/>
          </a:prstGeom>
          <a:solidFill>
            <a:srgbClr val="F5F5F2"/>
          </a:solidFill>
          <a:ln w="6350">
            <a:solidFill>
              <a:srgbClr val="D9D9D4"/>
            </a:solidFill>
            <a:prstDash val="solid"/>
          </a:ln>
        </p:spPr>
      </p:sp>
      <p:sp>
        <p:nvSpPr>
          <p:cNvPr id="23" name="Text 21"/>
          <p:cNvSpPr/>
          <p:nvPr/>
        </p:nvSpPr>
        <p:spPr>
          <a:xfrm>
            <a:off x="685800" y="3026664"/>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Weekly Project Report</a:t>
            </a:r>
            <a:endParaRPr lang="en-US" sz="1050" dirty="0"/>
          </a:p>
        </p:txBody>
      </p:sp>
      <p:sp>
        <p:nvSpPr>
          <p:cNvPr id="24" name="Shape 22"/>
          <p:cNvSpPr/>
          <p:nvPr/>
        </p:nvSpPr>
        <p:spPr>
          <a:xfrm>
            <a:off x="6199632" y="3099816"/>
            <a:ext cx="274320" cy="274320"/>
          </a:xfrm>
          <a:prstGeom prst="roundRect">
            <a:avLst>
              <a:gd name="adj" fmla="val 15000"/>
            </a:avLst>
          </a:prstGeom>
          <a:solidFill>
            <a:srgbClr val="C43E1C"/>
          </a:solidFill>
          <a:ln/>
        </p:spPr>
      </p:sp>
      <p:sp>
        <p:nvSpPr>
          <p:cNvPr id="25" name="Text 23"/>
          <p:cNvSpPr/>
          <p:nvPr/>
        </p:nvSpPr>
        <p:spPr>
          <a:xfrm>
            <a:off x="6199632" y="3099816"/>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PPTX</a:t>
            </a:r>
            <a:endParaRPr lang="en-US" sz="700" dirty="0"/>
          </a:p>
        </p:txBody>
      </p:sp>
      <p:sp>
        <p:nvSpPr>
          <p:cNvPr id="26" name="Text 24"/>
          <p:cNvSpPr/>
          <p:nvPr/>
        </p:nvSpPr>
        <p:spPr>
          <a:xfrm>
            <a:off x="7315200" y="3026664"/>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Shared with the PMT every week on progress and risks</a:t>
            </a:r>
            <a:endParaRPr lang="en-US" sz="1000" dirty="0"/>
          </a:p>
        </p:txBody>
      </p:sp>
      <p:sp>
        <p:nvSpPr>
          <p:cNvPr id="27" name="Shape 25"/>
          <p:cNvSpPr/>
          <p:nvPr/>
        </p:nvSpPr>
        <p:spPr>
          <a:xfrm>
            <a:off x="548640" y="3447288"/>
            <a:ext cx="10607040" cy="420624"/>
          </a:xfrm>
          <a:prstGeom prst="rect">
            <a:avLst/>
          </a:prstGeom>
          <a:solidFill>
            <a:srgbClr val="FFFFFF"/>
          </a:solidFill>
          <a:ln w="6350">
            <a:solidFill>
              <a:srgbClr val="D9D9D4"/>
            </a:solidFill>
            <a:prstDash val="solid"/>
          </a:ln>
        </p:spPr>
      </p:sp>
      <p:sp>
        <p:nvSpPr>
          <p:cNvPr id="28" name="Text 26"/>
          <p:cNvSpPr/>
          <p:nvPr/>
        </p:nvSpPr>
        <p:spPr>
          <a:xfrm>
            <a:off x="685800" y="3447288"/>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Fortnightly PMO Report</a:t>
            </a:r>
            <a:endParaRPr lang="en-US" sz="1050" dirty="0"/>
          </a:p>
        </p:txBody>
      </p:sp>
      <p:sp>
        <p:nvSpPr>
          <p:cNvPr id="29" name="Shape 27"/>
          <p:cNvSpPr/>
          <p:nvPr/>
        </p:nvSpPr>
        <p:spPr>
          <a:xfrm>
            <a:off x="6199632" y="3520440"/>
            <a:ext cx="274320" cy="274320"/>
          </a:xfrm>
          <a:prstGeom prst="roundRect">
            <a:avLst>
              <a:gd name="adj" fmla="val 15000"/>
            </a:avLst>
          </a:prstGeom>
          <a:solidFill>
            <a:srgbClr val="A8221C"/>
          </a:solidFill>
          <a:ln/>
        </p:spPr>
      </p:sp>
      <p:sp>
        <p:nvSpPr>
          <p:cNvPr id="30" name="Text 28"/>
          <p:cNvSpPr/>
          <p:nvPr/>
        </p:nvSpPr>
        <p:spPr>
          <a:xfrm>
            <a:off x="6199632" y="3520440"/>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31" name="Text 29"/>
          <p:cNvSpPr/>
          <p:nvPr/>
        </p:nvSpPr>
        <p:spPr>
          <a:xfrm>
            <a:off x="7315200" y="3447288"/>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Wider governance update, shared every two weeks</a:t>
            </a:r>
            <a:endParaRPr lang="en-US" sz="1000" dirty="0"/>
          </a:p>
        </p:txBody>
      </p:sp>
      <p:sp>
        <p:nvSpPr>
          <p:cNvPr id="32" name="Shape 30"/>
          <p:cNvSpPr/>
          <p:nvPr/>
        </p:nvSpPr>
        <p:spPr>
          <a:xfrm>
            <a:off x="548640" y="3867912"/>
            <a:ext cx="10607040" cy="420624"/>
          </a:xfrm>
          <a:prstGeom prst="rect">
            <a:avLst/>
          </a:prstGeom>
          <a:solidFill>
            <a:srgbClr val="F5F5F2"/>
          </a:solidFill>
          <a:ln w="6350">
            <a:solidFill>
              <a:srgbClr val="D9D9D4"/>
            </a:solidFill>
            <a:prstDash val="solid"/>
          </a:ln>
        </p:spPr>
      </p:sp>
      <p:sp>
        <p:nvSpPr>
          <p:cNvPr id="33" name="Text 31"/>
          <p:cNvSpPr/>
          <p:nvPr/>
        </p:nvSpPr>
        <p:spPr>
          <a:xfrm>
            <a:off x="685800" y="3867912"/>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Report Formats Required (Customer End)</a:t>
            </a:r>
            <a:endParaRPr lang="en-US" sz="1050" dirty="0"/>
          </a:p>
        </p:txBody>
      </p:sp>
      <p:sp>
        <p:nvSpPr>
          <p:cNvPr id="34" name="Shape 32"/>
          <p:cNvSpPr/>
          <p:nvPr/>
        </p:nvSpPr>
        <p:spPr>
          <a:xfrm>
            <a:off x="6199632" y="3941064"/>
            <a:ext cx="274320" cy="274320"/>
          </a:xfrm>
          <a:prstGeom prst="roundRect">
            <a:avLst>
              <a:gd name="adj" fmla="val 15000"/>
            </a:avLst>
          </a:prstGeom>
          <a:solidFill>
            <a:srgbClr val="1D6F42"/>
          </a:solidFill>
          <a:ln/>
        </p:spPr>
      </p:sp>
      <p:sp>
        <p:nvSpPr>
          <p:cNvPr id="35" name="Text 33"/>
          <p:cNvSpPr/>
          <p:nvPr/>
        </p:nvSpPr>
        <p:spPr>
          <a:xfrm>
            <a:off x="6199632" y="3941064"/>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XLSX</a:t>
            </a:r>
            <a:endParaRPr lang="en-US" sz="700" dirty="0"/>
          </a:p>
        </p:txBody>
      </p:sp>
      <p:sp>
        <p:nvSpPr>
          <p:cNvPr id="36" name="Text 34"/>
          <p:cNvSpPr/>
          <p:nvPr/>
        </p:nvSpPr>
        <p:spPr>
          <a:xfrm>
            <a:off x="7315200" y="3867912"/>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Confirms the exact report layout Triple-C needs from NAVFarm</a:t>
            </a:r>
            <a:endParaRPr lang="en-US" sz="1000" dirty="0"/>
          </a:p>
        </p:txBody>
      </p:sp>
      <p:sp>
        <p:nvSpPr>
          <p:cNvPr id="37" name="Shape 35"/>
          <p:cNvSpPr/>
          <p:nvPr/>
        </p:nvSpPr>
        <p:spPr>
          <a:xfrm>
            <a:off x="548640" y="4288536"/>
            <a:ext cx="10607040" cy="420624"/>
          </a:xfrm>
          <a:prstGeom prst="rect">
            <a:avLst/>
          </a:prstGeom>
          <a:solidFill>
            <a:srgbClr val="FFFFFF"/>
          </a:solidFill>
          <a:ln w="6350">
            <a:solidFill>
              <a:srgbClr val="D9D9D4"/>
            </a:solidFill>
            <a:prstDash val="solid"/>
          </a:ln>
        </p:spPr>
      </p:sp>
      <p:sp>
        <p:nvSpPr>
          <p:cNvPr id="38" name="Text 36"/>
          <p:cNvSpPr/>
          <p:nvPr/>
        </p:nvSpPr>
        <p:spPr>
          <a:xfrm>
            <a:off x="685800" y="4288536"/>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Change Request Form</a:t>
            </a:r>
            <a:endParaRPr lang="en-US" sz="1050" dirty="0"/>
          </a:p>
        </p:txBody>
      </p:sp>
      <p:sp>
        <p:nvSpPr>
          <p:cNvPr id="39" name="Shape 37"/>
          <p:cNvSpPr/>
          <p:nvPr/>
        </p:nvSpPr>
        <p:spPr>
          <a:xfrm>
            <a:off x="6199632" y="4361688"/>
            <a:ext cx="274320" cy="274320"/>
          </a:xfrm>
          <a:prstGeom prst="roundRect">
            <a:avLst>
              <a:gd name="adj" fmla="val 15000"/>
            </a:avLst>
          </a:prstGeom>
          <a:solidFill>
            <a:srgbClr val="2B579A"/>
          </a:solidFill>
          <a:ln/>
        </p:spPr>
      </p:sp>
      <p:sp>
        <p:nvSpPr>
          <p:cNvPr id="40" name="Text 38"/>
          <p:cNvSpPr/>
          <p:nvPr/>
        </p:nvSpPr>
        <p:spPr>
          <a:xfrm>
            <a:off x="6199632" y="4361688"/>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DOCX</a:t>
            </a:r>
            <a:endParaRPr lang="en-US" sz="700" dirty="0"/>
          </a:p>
        </p:txBody>
      </p:sp>
      <p:sp>
        <p:nvSpPr>
          <p:cNvPr id="41" name="Text 39"/>
          <p:cNvSpPr/>
          <p:nvPr/>
        </p:nvSpPr>
        <p:spPr>
          <a:xfrm>
            <a:off x="7315200" y="4288536"/>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Used to raise and approve any change to agreed scope</a:t>
            </a:r>
            <a:endParaRPr lang="en-US" sz="1000" dirty="0"/>
          </a:p>
        </p:txBody>
      </p:sp>
      <p:sp>
        <p:nvSpPr>
          <p:cNvPr id="42" name="Shape 40"/>
          <p:cNvSpPr/>
          <p:nvPr/>
        </p:nvSpPr>
        <p:spPr>
          <a:xfrm>
            <a:off x="548640" y="4709160"/>
            <a:ext cx="10607040" cy="420624"/>
          </a:xfrm>
          <a:prstGeom prst="rect">
            <a:avLst/>
          </a:prstGeom>
          <a:solidFill>
            <a:srgbClr val="F5F5F2"/>
          </a:solidFill>
          <a:ln w="6350">
            <a:solidFill>
              <a:srgbClr val="D9D9D4"/>
            </a:solidFill>
            <a:prstDash val="solid"/>
          </a:ln>
        </p:spPr>
      </p:sp>
      <p:sp>
        <p:nvSpPr>
          <p:cNvPr id="43" name="Text 41"/>
          <p:cNvSpPr/>
          <p:nvPr/>
        </p:nvSpPr>
        <p:spPr>
          <a:xfrm>
            <a:off x="685800" y="4709160"/>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Risk &amp; Issue Log</a:t>
            </a:r>
            <a:endParaRPr lang="en-US" sz="1050" dirty="0"/>
          </a:p>
        </p:txBody>
      </p:sp>
      <p:sp>
        <p:nvSpPr>
          <p:cNvPr id="44" name="Shape 42"/>
          <p:cNvSpPr/>
          <p:nvPr/>
        </p:nvSpPr>
        <p:spPr>
          <a:xfrm>
            <a:off x="6199632" y="4782312"/>
            <a:ext cx="274320" cy="274320"/>
          </a:xfrm>
          <a:prstGeom prst="roundRect">
            <a:avLst>
              <a:gd name="adj" fmla="val 15000"/>
            </a:avLst>
          </a:prstGeom>
          <a:solidFill>
            <a:srgbClr val="1D6F42"/>
          </a:solidFill>
          <a:ln/>
        </p:spPr>
      </p:sp>
      <p:sp>
        <p:nvSpPr>
          <p:cNvPr id="45" name="Text 43"/>
          <p:cNvSpPr/>
          <p:nvPr/>
        </p:nvSpPr>
        <p:spPr>
          <a:xfrm>
            <a:off x="6199632" y="4782312"/>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XLSX</a:t>
            </a:r>
            <a:endParaRPr lang="en-US" sz="700" dirty="0"/>
          </a:p>
        </p:txBody>
      </p:sp>
      <p:sp>
        <p:nvSpPr>
          <p:cNvPr id="46" name="Text 44"/>
          <p:cNvSpPr/>
          <p:nvPr/>
        </p:nvSpPr>
        <p:spPr>
          <a:xfrm>
            <a:off x="7315200" y="4709160"/>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Tracks open risks and issues, owners and target dates</a:t>
            </a:r>
            <a:endParaRPr lang="en-US" sz="1000" dirty="0"/>
          </a:p>
        </p:txBody>
      </p:sp>
      <p:sp>
        <p:nvSpPr>
          <p:cNvPr id="47" name="Shape 45"/>
          <p:cNvSpPr/>
          <p:nvPr/>
        </p:nvSpPr>
        <p:spPr>
          <a:xfrm>
            <a:off x="548640" y="5129784"/>
            <a:ext cx="10607040" cy="420624"/>
          </a:xfrm>
          <a:prstGeom prst="rect">
            <a:avLst/>
          </a:prstGeom>
          <a:solidFill>
            <a:srgbClr val="FFFFFF"/>
          </a:solidFill>
          <a:ln w="6350">
            <a:solidFill>
              <a:srgbClr val="D9D9D4"/>
            </a:solidFill>
            <a:prstDash val="solid"/>
          </a:ln>
        </p:spPr>
      </p:sp>
      <p:sp>
        <p:nvSpPr>
          <p:cNvPr id="48" name="Text 46"/>
          <p:cNvSpPr/>
          <p:nvPr/>
        </p:nvSpPr>
        <p:spPr>
          <a:xfrm>
            <a:off x="685800" y="5129784"/>
            <a:ext cx="4892040" cy="420624"/>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Milestone Sign-off Document</a:t>
            </a:r>
            <a:endParaRPr lang="en-US" sz="1050" dirty="0"/>
          </a:p>
        </p:txBody>
      </p:sp>
      <p:sp>
        <p:nvSpPr>
          <p:cNvPr id="49" name="Shape 47"/>
          <p:cNvSpPr/>
          <p:nvPr/>
        </p:nvSpPr>
        <p:spPr>
          <a:xfrm>
            <a:off x="6199632" y="5202936"/>
            <a:ext cx="274320" cy="274320"/>
          </a:xfrm>
          <a:prstGeom prst="roundRect">
            <a:avLst>
              <a:gd name="adj" fmla="val 15000"/>
            </a:avLst>
          </a:prstGeom>
          <a:solidFill>
            <a:srgbClr val="A8221C"/>
          </a:solidFill>
          <a:ln/>
        </p:spPr>
      </p:sp>
      <p:sp>
        <p:nvSpPr>
          <p:cNvPr id="50" name="Text 48"/>
          <p:cNvSpPr/>
          <p:nvPr/>
        </p:nvSpPr>
        <p:spPr>
          <a:xfrm>
            <a:off x="6199632" y="5202936"/>
            <a:ext cx="27432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1" name="Text 49"/>
          <p:cNvSpPr/>
          <p:nvPr/>
        </p:nvSpPr>
        <p:spPr>
          <a:xfrm>
            <a:off x="7315200" y="5129784"/>
            <a:ext cx="4206240" cy="420624"/>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Formal sign-off at each project milestone</a:t>
            </a:r>
            <a:endParaRPr lang="en-US" sz="1000" dirty="0"/>
          </a:p>
        </p:txBody>
      </p:sp>
      <p:sp>
        <p:nvSpPr>
          <p:cNvPr id="52" name="Text 50"/>
          <p:cNvSpPr/>
          <p:nvPr/>
        </p:nvSpPr>
        <p:spPr>
          <a:xfrm>
            <a:off x="548640" y="5623560"/>
            <a:ext cx="10607040" cy="274320"/>
          </a:xfrm>
          <a:prstGeom prst="rect">
            <a:avLst/>
          </a:prstGeom>
          <a:noFill/>
          <a:ln/>
        </p:spPr>
        <p:txBody>
          <a:bodyPr wrap="square" lIns="0" tIns="0" rIns="0" bIns="0" rtlCol="0" anchor="ctr"/>
          <a:lstStyle/>
          <a:p>
            <a:pPr marL="0" indent="0">
              <a:buNone/>
            </a:pPr>
            <a:r>
              <a:rPr lang="en-US" sz="1000" i="1" dirty="0">
                <a:solidFill>
                  <a:srgbClr val="6E6E6E"/>
                </a:solidFill>
                <a:latin typeface="Calibri" pitchFamily="34" charset="0"/>
                <a:ea typeface="Calibri" pitchFamily="34" charset="-122"/>
                <a:cs typeface="Calibri" pitchFamily="34" charset="-120"/>
              </a:rPr>
              <a:t>Additional formats may be confirmed during the Business Process Study, depending on what Triple-C's teams already use.</a:t>
            </a:r>
            <a:endParaRPr lang="en-US" sz="1000" dirty="0"/>
          </a:p>
        </p:txBody>
      </p:sp>
      <p:sp>
        <p:nvSpPr>
          <p:cNvPr id="53" name="Text 51"/>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54" name="Text 52"/>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14</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2000"/>
                                        <p:tgtEl>
                                          <p:spTgt spid="12"/>
                                        </p:tgtEl>
                                      </p:cBhvr>
                                    </p:animEffect>
                                    <p:anim calcmode="lin" valueType="num">
                                      <p:cBhvr>
                                        <p:cTn id="15" dur="2000" fill="hold"/>
                                        <p:tgtEl>
                                          <p:spTgt spid="12"/>
                                        </p:tgtEl>
                                        <p:attrNameLst>
                                          <p:attrName>ppt_w</p:attrName>
                                        </p:attrNameLst>
                                      </p:cBhvr>
                                      <p:tavLst>
                                        <p:tav tm="0" fmla="#ppt_w*sin(2.5*pi*$)">
                                          <p:val>
                                            <p:fltVal val="0"/>
                                          </p:val>
                                        </p:tav>
                                        <p:tav tm="100000">
                                          <p:val>
                                            <p:fltVal val="1"/>
                                          </p:val>
                                        </p:tav>
                                      </p:tavLst>
                                    </p:anim>
                                    <p:anim calcmode="lin" valueType="num">
                                      <p:cBhvr>
                                        <p:cTn id="16"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2000"/>
                                        <p:tgtEl>
                                          <p:spTgt spid="17"/>
                                        </p:tgtEl>
                                      </p:cBhvr>
                                    </p:animEffect>
                                    <p:anim calcmode="lin" valueType="num">
                                      <p:cBhvr>
                                        <p:cTn id="22" dur="2000" fill="hold"/>
                                        <p:tgtEl>
                                          <p:spTgt spid="17"/>
                                        </p:tgtEl>
                                        <p:attrNameLst>
                                          <p:attrName>ppt_w</p:attrName>
                                        </p:attrNameLst>
                                      </p:cBhvr>
                                      <p:tavLst>
                                        <p:tav tm="0" fmla="#ppt_w*sin(2.5*pi*$)">
                                          <p:val>
                                            <p:fltVal val="0"/>
                                          </p:val>
                                        </p:tav>
                                        <p:tav tm="100000">
                                          <p:val>
                                            <p:fltVal val="1"/>
                                          </p:val>
                                        </p:tav>
                                      </p:tavLst>
                                    </p:anim>
                                    <p:anim calcmode="lin" valueType="num">
                                      <p:cBhvr>
                                        <p:cTn id="23" dur="2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5"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000"/>
                                        <p:tgtEl>
                                          <p:spTgt spid="22"/>
                                        </p:tgtEl>
                                      </p:cBhvr>
                                    </p:animEffect>
                                    <p:anim calcmode="lin" valueType="num">
                                      <p:cBhvr>
                                        <p:cTn id="29" dur="2000" fill="hold"/>
                                        <p:tgtEl>
                                          <p:spTgt spid="22"/>
                                        </p:tgtEl>
                                        <p:attrNameLst>
                                          <p:attrName>ppt_w</p:attrName>
                                        </p:attrNameLst>
                                      </p:cBhvr>
                                      <p:tavLst>
                                        <p:tav tm="0" fmla="#ppt_w*sin(2.5*pi*$)">
                                          <p:val>
                                            <p:fltVal val="0"/>
                                          </p:val>
                                        </p:tav>
                                        <p:tav tm="100000">
                                          <p:val>
                                            <p:fltVal val="1"/>
                                          </p:val>
                                        </p:tav>
                                      </p:tavLst>
                                    </p:anim>
                                    <p:anim calcmode="lin" valueType="num">
                                      <p:cBhvr>
                                        <p:cTn id="30" dur="20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5"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2000"/>
                                        <p:tgtEl>
                                          <p:spTgt spid="27"/>
                                        </p:tgtEl>
                                      </p:cBhvr>
                                    </p:animEffect>
                                    <p:anim calcmode="lin" valueType="num">
                                      <p:cBhvr>
                                        <p:cTn id="36" dur="2000" fill="hold"/>
                                        <p:tgtEl>
                                          <p:spTgt spid="27"/>
                                        </p:tgtEl>
                                        <p:attrNameLst>
                                          <p:attrName>ppt_w</p:attrName>
                                        </p:attrNameLst>
                                      </p:cBhvr>
                                      <p:tavLst>
                                        <p:tav tm="0" fmla="#ppt_w*sin(2.5*pi*$)">
                                          <p:val>
                                            <p:fltVal val="0"/>
                                          </p:val>
                                        </p:tav>
                                        <p:tav tm="100000">
                                          <p:val>
                                            <p:fltVal val="1"/>
                                          </p:val>
                                        </p:tav>
                                      </p:tavLst>
                                    </p:anim>
                                    <p:anim calcmode="lin" valueType="num">
                                      <p:cBhvr>
                                        <p:cTn id="37" dur="20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45"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2000"/>
                                        <p:tgtEl>
                                          <p:spTgt spid="32"/>
                                        </p:tgtEl>
                                      </p:cBhvr>
                                    </p:animEffect>
                                    <p:anim calcmode="lin" valueType="num">
                                      <p:cBhvr>
                                        <p:cTn id="43" dur="2000" fill="hold"/>
                                        <p:tgtEl>
                                          <p:spTgt spid="32"/>
                                        </p:tgtEl>
                                        <p:attrNameLst>
                                          <p:attrName>ppt_w</p:attrName>
                                        </p:attrNameLst>
                                      </p:cBhvr>
                                      <p:tavLst>
                                        <p:tav tm="0" fmla="#ppt_w*sin(2.5*pi*$)">
                                          <p:val>
                                            <p:fltVal val="0"/>
                                          </p:val>
                                        </p:tav>
                                        <p:tav tm="100000">
                                          <p:val>
                                            <p:fltVal val="1"/>
                                          </p:val>
                                        </p:tav>
                                      </p:tavLst>
                                    </p:anim>
                                    <p:anim calcmode="lin" valueType="num">
                                      <p:cBhvr>
                                        <p:cTn id="44" dur="20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45" presetClass="entr" presetSubtype="0" fill="hold" nodeType="click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2000"/>
                                        <p:tgtEl>
                                          <p:spTgt spid="37"/>
                                        </p:tgtEl>
                                      </p:cBhvr>
                                    </p:animEffect>
                                    <p:anim calcmode="lin" valueType="num">
                                      <p:cBhvr>
                                        <p:cTn id="50" dur="2000" fill="hold"/>
                                        <p:tgtEl>
                                          <p:spTgt spid="37"/>
                                        </p:tgtEl>
                                        <p:attrNameLst>
                                          <p:attrName>ppt_w</p:attrName>
                                        </p:attrNameLst>
                                      </p:cBhvr>
                                      <p:tavLst>
                                        <p:tav tm="0" fmla="#ppt_w*sin(2.5*pi*$)">
                                          <p:val>
                                            <p:fltVal val="0"/>
                                          </p:val>
                                        </p:tav>
                                        <p:tav tm="100000">
                                          <p:val>
                                            <p:fltVal val="1"/>
                                          </p:val>
                                        </p:tav>
                                      </p:tavLst>
                                    </p:anim>
                                    <p:anim calcmode="lin" valueType="num">
                                      <p:cBhvr>
                                        <p:cTn id="51" dur="20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ID="45" presetClass="entr" presetSubtype="0" fill="hold" nodeType="click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2000"/>
                                        <p:tgtEl>
                                          <p:spTgt spid="42"/>
                                        </p:tgtEl>
                                      </p:cBhvr>
                                    </p:animEffect>
                                    <p:anim calcmode="lin" valueType="num">
                                      <p:cBhvr>
                                        <p:cTn id="57" dur="2000" fill="hold"/>
                                        <p:tgtEl>
                                          <p:spTgt spid="42"/>
                                        </p:tgtEl>
                                        <p:attrNameLst>
                                          <p:attrName>ppt_w</p:attrName>
                                        </p:attrNameLst>
                                      </p:cBhvr>
                                      <p:tavLst>
                                        <p:tav tm="0" fmla="#ppt_w*sin(2.5*pi*$)">
                                          <p:val>
                                            <p:fltVal val="0"/>
                                          </p:val>
                                        </p:tav>
                                        <p:tav tm="100000">
                                          <p:val>
                                            <p:fltVal val="1"/>
                                          </p:val>
                                        </p:tav>
                                      </p:tavLst>
                                    </p:anim>
                                    <p:anim calcmode="lin" valueType="num">
                                      <p:cBhvr>
                                        <p:cTn id="58" dur="20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45" presetClass="entr" presetSubtype="0" fill="hold" nodeType="click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2000"/>
                                        <p:tgtEl>
                                          <p:spTgt spid="47"/>
                                        </p:tgtEl>
                                      </p:cBhvr>
                                    </p:animEffect>
                                    <p:anim calcmode="lin" valueType="num">
                                      <p:cBhvr>
                                        <p:cTn id="64" dur="2000" fill="hold"/>
                                        <p:tgtEl>
                                          <p:spTgt spid="47"/>
                                        </p:tgtEl>
                                        <p:attrNameLst>
                                          <p:attrName>ppt_w</p:attrName>
                                        </p:attrNameLst>
                                      </p:cBhvr>
                                      <p:tavLst>
                                        <p:tav tm="0" fmla="#ppt_w*sin(2.5*pi*$)">
                                          <p:val>
                                            <p:fltVal val="0"/>
                                          </p:val>
                                        </p:tav>
                                        <p:tav tm="100000">
                                          <p:val>
                                            <p:fltVal val="1"/>
                                          </p:val>
                                        </p:tav>
                                      </p:tavLst>
                                    </p:anim>
                                    <p:anim calcmode="lin" valueType="num">
                                      <p:cBhvr>
                                        <p:cTn id="65" dur="2000" fill="hold"/>
                                        <p:tgtEl>
                                          <p:spTgt spid="4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Implementation Timeline - Phase 1</a:t>
            </a:r>
            <a:endParaRPr lang="en-US" sz="2400" dirty="0"/>
          </a:p>
        </p:txBody>
      </p:sp>
      <p:sp>
        <p:nvSpPr>
          <p:cNvPr id="3" name="Text 1"/>
          <p:cNvSpPr/>
          <p:nvPr/>
        </p:nvSpPr>
        <p:spPr>
          <a:xfrm>
            <a:off x="595024" y="1008255"/>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  |  Kick-off on 04 August 2026</a:t>
            </a:r>
            <a:endParaRPr lang="en-US" sz="1250" dirty="0">
              <a:solidFill>
                <a:schemeClr val="accent1"/>
              </a:solidFill>
            </a:endParaRPr>
          </a:p>
        </p:txBody>
      </p:sp>
      <p:sp>
        <p:nvSpPr>
          <p:cNvPr id="5" name="Text 2"/>
          <p:cNvSpPr/>
          <p:nvPr/>
        </p:nvSpPr>
        <p:spPr>
          <a:xfrm>
            <a:off x="8686800" y="1442337"/>
            <a:ext cx="2926080" cy="4114800"/>
          </a:xfrm>
          <a:prstGeom prst="rect">
            <a:avLst/>
          </a:prstGeom>
          <a:noFill/>
          <a:ln/>
        </p:spPr>
        <p:txBody>
          <a:bodyPr wrap="square" lIns="0" tIns="0" rIns="0" bIns="0" rtlCol="0" anchor="t"/>
          <a:lstStyle/>
          <a:p>
            <a:pPr marL="0" indent="0">
              <a:lnSpc>
                <a:spcPct val="130000"/>
              </a:lnSpc>
              <a:buNone/>
            </a:pPr>
            <a:endParaRPr lang="en-US" sz="1100" dirty="0"/>
          </a:p>
        </p:txBody>
      </p:sp>
      <p:sp>
        <p:nvSpPr>
          <p:cNvPr id="6" name="Text 3"/>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7" name="Text 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15</a:t>
            </a:r>
            <a:endParaRPr lang="en-US" sz="900" dirty="0"/>
          </a:p>
        </p:txBody>
      </p:sp>
      <p:graphicFrame>
        <p:nvGraphicFramePr>
          <p:cNvPr id="8" name="Table 7">
            <a:extLst>
              <a:ext uri="{FF2B5EF4-FFF2-40B4-BE49-F238E27FC236}">
                <a16:creationId xmlns:a16="http://schemas.microsoft.com/office/drawing/2014/main" id="{77AD8E68-8E10-D39D-4452-0E52E9300977}"/>
              </a:ext>
            </a:extLst>
          </p:cNvPr>
          <p:cNvGraphicFramePr>
            <a:graphicFrameLocks noGrp="1"/>
          </p:cNvGraphicFramePr>
          <p:nvPr>
            <p:extLst>
              <p:ext uri="{D42A27DB-BD31-4B8C-83A1-F6EECF244321}">
                <p14:modId xmlns:p14="http://schemas.microsoft.com/office/powerpoint/2010/main" val="68831316"/>
              </p:ext>
            </p:extLst>
          </p:nvPr>
        </p:nvGraphicFramePr>
        <p:xfrm>
          <a:off x="370114" y="1442337"/>
          <a:ext cx="11506199" cy="4849607"/>
        </p:xfrm>
        <a:graphic>
          <a:graphicData uri="http://schemas.openxmlformats.org/drawingml/2006/table">
            <a:tbl>
              <a:tblPr>
                <a:tableStyleId>{5C22544A-7EE6-4342-B048-85BDC9FD1C3A}</a:tableStyleId>
              </a:tblPr>
              <a:tblGrid>
                <a:gridCol w="699251">
                  <a:extLst>
                    <a:ext uri="{9D8B030D-6E8A-4147-A177-3AD203B41FA5}">
                      <a16:colId xmlns:a16="http://schemas.microsoft.com/office/drawing/2014/main" val="1405516198"/>
                    </a:ext>
                  </a:extLst>
                </a:gridCol>
                <a:gridCol w="2974593">
                  <a:extLst>
                    <a:ext uri="{9D8B030D-6E8A-4147-A177-3AD203B41FA5}">
                      <a16:colId xmlns:a16="http://schemas.microsoft.com/office/drawing/2014/main" val="3876825730"/>
                    </a:ext>
                  </a:extLst>
                </a:gridCol>
                <a:gridCol w="1010030">
                  <a:extLst>
                    <a:ext uri="{9D8B030D-6E8A-4147-A177-3AD203B41FA5}">
                      <a16:colId xmlns:a16="http://schemas.microsoft.com/office/drawing/2014/main" val="789720137"/>
                    </a:ext>
                  </a:extLst>
                </a:gridCol>
                <a:gridCol w="680752">
                  <a:extLst>
                    <a:ext uri="{9D8B030D-6E8A-4147-A177-3AD203B41FA5}">
                      <a16:colId xmlns:a16="http://schemas.microsoft.com/office/drawing/2014/main" val="2014316944"/>
                    </a:ext>
                  </a:extLst>
                </a:gridCol>
                <a:gridCol w="858340">
                  <a:extLst>
                    <a:ext uri="{9D8B030D-6E8A-4147-A177-3AD203B41FA5}">
                      <a16:colId xmlns:a16="http://schemas.microsoft.com/office/drawing/2014/main" val="4084517691"/>
                    </a:ext>
                  </a:extLst>
                </a:gridCol>
                <a:gridCol w="843541">
                  <a:extLst>
                    <a:ext uri="{9D8B030D-6E8A-4147-A177-3AD203B41FA5}">
                      <a16:colId xmlns:a16="http://schemas.microsoft.com/office/drawing/2014/main" val="3700782642"/>
                    </a:ext>
                  </a:extLst>
                </a:gridCol>
                <a:gridCol w="4439692">
                  <a:extLst>
                    <a:ext uri="{9D8B030D-6E8A-4147-A177-3AD203B41FA5}">
                      <a16:colId xmlns:a16="http://schemas.microsoft.com/office/drawing/2014/main" val="2000520978"/>
                    </a:ext>
                  </a:extLst>
                </a:gridCol>
              </a:tblGrid>
              <a:tr h="410716">
                <a:tc>
                  <a:txBody>
                    <a:bodyPr/>
                    <a:lstStyle/>
                    <a:p>
                      <a:pPr algn="ctr" fontAlgn="ctr">
                        <a:buNone/>
                      </a:pPr>
                      <a:r>
                        <a:rPr lang="en-IN" sz="900" b="1" u="none" strike="noStrike">
                          <a:solidFill>
                            <a:schemeClr val="bg1"/>
                          </a:solidFill>
                          <a:effectLst/>
                        </a:rPr>
                        <a:t>WBS ID</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Phase / Activity</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Duration</a:t>
                      </a:r>
                      <a:br>
                        <a:rPr lang="en-IN" sz="900" b="1" u="none" strike="noStrike">
                          <a:solidFill>
                            <a:schemeClr val="bg1"/>
                          </a:solidFill>
                          <a:effectLst/>
                        </a:rPr>
                      </a:br>
                      <a:r>
                        <a:rPr lang="en-IN" sz="900" b="1" u="none" strike="noStrike">
                          <a:solidFill>
                            <a:schemeClr val="bg1"/>
                          </a:solidFill>
                          <a:effectLst/>
                        </a:rPr>
                        <a:t>(Working Days)</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Mode</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Start Date</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End Date</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Comments</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extLst>
                  <a:ext uri="{0D108BD9-81ED-4DB2-BD59-A6C34878D82A}">
                    <a16:rowId xmlns:a16="http://schemas.microsoft.com/office/drawing/2014/main" val="2429985699"/>
                  </a:ext>
                </a:extLst>
              </a:tr>
              <a:tr h="205358">
                <a:tc>
                  <a:txBody>
                    <a:bodyPr/>
                    <a:lstStyle/>
                    <a:p>
                      <a:pPr algn="ctr" fontAlgn="ctr">
                        <a:buNone/>
                      </a:pPr>
                      <a:r>
                        <a:rPr lang="en-IN" sz="900" b="1" u="none" strike="noStrike">
                          <a:solidFill>
                            <a:schemeClr val="bg1"/>
                          </a:solidFill>
                          <a:effectLst/>
                        </a:rPr>
                        <a:t>1</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1. Project Kick-off</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1</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04-Aug-2026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04-Aug-2026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Formal project launch; PMT and governance confirmed. Fixed date.</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40863779"/>
                  </a:ext>
                </a:extLst>
              </a:tr>
              <a:tr h="410716">
                <a:tc>
                  <a:txBody>
                    <a:bodyPr/>
                    <a:lstStyle/>
                    <a:p>
                      <a:pPr algn="ctr" fontAlgn="ctr">
                        <a:buNone/>
                      </a:pPr>
                      <a:r>
                        <a:rPr lang="en-IN" sz="900" b="1" u="none" strike="noStrike">
                          <a:solidFill>
                            <a:schemeClr val="bg1"/>
                          </a:solidFill>
                          <a:effectLst/>
                        </a:rPr>
                        <a:t>2</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2. Business Process Study</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12</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Mix-Mode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15-Aug-2026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28-Aug-2026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On-site and remote study of current farm &amp; finance processes (7 onshore days within this window). Fixed start date, gap after kick-off for mobilisation.</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79983934"/>
                  </a:ext>
                </a:extLst>
              </a:tr>
              <a:tr h="205358">
                <a:tc>
                  <a:txBody>
                    <a:bodyPr/>
                    <a:lstStyle/>
                    <a:p>
                      <a:pPr algn="ctr" fontAlgn="ctr">
                        <a:buNone/>
                      </a:pPr>
                      <a:r>
                        <a:rPr lang="en-IN" sz="900" b="1" u="none" strike="noStrike">
                          <a:solidFill>
                            <a:schemeClr val="bg1"/>
                          </a:solidFill>
                          <a:effectLst/>
                        </a:rPr>
                        <a:t>3</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3. Business Blueprint</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7</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31-Aug-2026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08-Sep-2026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Business Blueprint Document (BBP) prepared and signed off.</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24839111"/>
                  </a:ext>
                </a:extLst>
              </a:tr>
              <a:tr h="205358">
                <a:tc>
                  <a:txBody>
                    <a:bodyPr/>
                    <a:lstStyle/>
                    <a:p>
                      <a:pPr algn="ctr" fontAlgn="ctr">
                        <a:buNone/>
                      </a:pPr>
                      <a:r>
                        <a:rPr lang="en-IN" sz="900" b="1" u="none" strike="noStrike">
                          <a:solidFill>
                            <a:schemeClr val="bg1"/>
                          </a:solidFill>
                          <a:effectLst/>
                        </a:rPr>
                        <a:t>4</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4. System Configuration &amp; Customization (P1)</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20</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09-Sep-2026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07-Oct-2026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Core NAVFarm configuration per signed-off BBP.</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50853467"/>
                  </a:ext>
                </a:extLst>
              </a:tr>
              <a:tr h="205358">
                <a:tc>
                  <a:txBody>
                    <a:bodyPr/>
                    <a:lstStyle/>
                    <a:p>
                      <a:pPr algn="ctr" fontAlgn="ctr">
                        <a:buNone/>
                      </a:pPr>
                      <a:r>
                        <a:rPr lang="en-IN" sz="900" b="1" u="none" strike="noStrike">
                          <a:solidFill>
                            <a:schemeClr val="bg1"/>
                          </a:solidFill>
                          <a:effectLst/>
                        </a:rPr>
                        <a:t>5</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5. Conference Room Pilot (CRP)</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3</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08-Oct-2026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12-Oct-2026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Configured solution walked through with client stakeholders.</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16022383"/>
                  </a:ext>
                </a:extLst>
              </a:tr>
              <a:tr h="205358">
                <a:tc>
                  <a:txBody>
                    <a:bodyPr/>
                    <a:lstStyle/>
                    <a:p>
                      <a:pPr algn="ctr" fontAlgn="ctr">
                        <a:buNone/>
                      </a:pPr>
                      <a:r>
                        <a:rPr lang="en-IN" sz="900" b="1" u="none" strike="noStrike">
                          <a:solidFill>
                            <a:schemeClr val="bg1"/>
                          </a:solidFill>
                          <a:effectLst/>
                        </a:rPr>
                        <a:t>6</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6. Integration &amp; Customization (P2)</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20</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13-Oct-2026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12-Nov-2026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D365BC and Pig Vision integration build.</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9688005"/>
                  </a:ext>
                </a:extLst>
              </a:tr>
              <a:tr h="205358">
                <a:tc>
                  <a:txBody>
                    <a:bodyPr/>
                    <a:lstStyle/>
                    <a:p>
                      <a:pPr algn="ctr" fontAlgn="ctr">
                        <a:buNone/>
                      </a:pPr>
                      <a:r>
                        <a:rPr lang="en-IN" sz="900" b="1" u="none" strike="noStrike">
                          <a:solidFill>
                            <a:schemeClr val="bg1"/>
                          </a:solidFill>
                          <a:effectLst/>
                        </a:rPr>
                        <a:t>7</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7. Key User Training</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7</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Onshore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13-Nov-2026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20-Nov-2026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May extend up to 5 additional days with joint management approval.</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24896568"/>
                  </a:ext>
                </a:extLst>
              </a:tr>
              <a:tr h="410716">
                <a:tc>
                  <a:txBody>
                    <a:bodyPr/>
                    <a:lstStyle/>
                    <a:p>
                      <a:pPr algn="ctr" fontAlgn="ctr">
                        <a:buNone/>
                      </a:pPr>
                      <a:r>
                        <a:rPr lang="en-IN" sz="900" b="1" u="none" strike="noStrike">
                          <a:solidFill>
                            <a:schemeClr val="bg1"/>
                          </a:solidFill>
                          <a:effectLst/>
                        </a:rPr>
                        <a:t>8</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8. User Testing</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8</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Onshore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21-Nov-2026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30-Nov-2026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May extend up to 5 additional days (combined with training) with joint management approval.</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77237655"/>
                  </a:ext>
                </a:extLst>
              </a:tr>
              <a:tr h="410716">
                <a:tc>
                  <a:txBody>
                    <a:bodyPr/>
                    <a:lstStyle/>
                    <a:p>
                      <a:pPr algn="ctr" fontAlgn="ctr">
                        <a:buNone/>
                      </a:pPr>
                      <a:r>
                        <a:rPr lang="en-IN" sz="900" b="1" u="none" strike="noStrike">
                          <a:solidFill>
                            <a:schemeClr val="bg1"/>
                          </a:solidFill>
                          <a:effectLst/>
                        </a:rPr>
                        <a:t>9</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9. Data Migration &amp; Go-Live Preparation</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7</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Onshore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01-Dec-2026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08-Dec-2026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4 years of historical data migrated (client-provided in NAVFarm template format).</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14698285"/>
                  </a:ext>
                </a:extLst>
              </a:tr>
              <a:tr h="205358">
                <a:tc>
                  <a:txBody>
                    <a:bodyPr/>
                    <a:lstStyle/>
                    <a:p>
                      <a:pPr algn="ctr" fontAlgn="ctr">
                        <a:buNone/>
                      </a:pPr>
                      <a:r>
                        <a:rPr lang="en-IN" sz="900" b="1" u="none" strike="noStrike">
                          <a:solidFill>
                            <a:schemeClr val="bg1"/>
                          </a:solidFill>
                          <a:effectLst/>
                        </a:rPr>
                        <a:t>10</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10. Go-Live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5</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Onshore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09-Dec-2026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14-Dec-2026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Production cutover.</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10494563"/>
                  </a:ext>
                </a:extLst>
              </a:tr>
              <a:tr h="205358">
                <a:tc>
                  <a:txBody>
                    <a:bodyPr/>
                    <a:lstStyle/>
                    <a:p>
                      <a:pPr algn="ctr" fontAlgn="ctr">
                        <a:buNone/>
                      </a:pPr>
                      <a:r>
                        <a:rPr lang="en-IN" sz="900" b="1" u="none" strike="noStrike">
                          <a:solidFill>
                            <a:schemeClr val="bg1"/>
                          </a:solidFill>
                          <a:effectLst/>
                        </a:rPr>
                        <a:t>11</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11. Post Go-Live Support</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30</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15-Dec-2026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buNone/>
                      </a:pPr>
                      <a:r>
                        <a:rPr lang="en-IN" sz="900" u="none" strike="noStrike">
                          <a:effectLst/>
                        </a:rPr>
                        <a:t>26-Jan-2027</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Stabilization support, performance tuning, issue resolution, user enablement.</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8974464"/>
                  </a:ext>
                </a:extLst>
              </a:tr>
              <a:tr h="205358">
                <a:tc>
                  <a:txBody>
                    <a:bodyPr/>
                    <a:lstStyle/>
                    <a:p>
                      <a:pPr algn="ctr" fontAlgn="ctr">
                        <a:buNone/>
                      </a:pPr>
                      <a:r>
                        <a:rPr lang="en-IN" sz="900" b="1" u="none" strike="noStrike">
                          <a:solidFill>
                            <a:schemeClr val="bg1"/>
                          </a:solidFill>
                          <a:effectLst/>
                        </a:rPr>
                        <a:t>12</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12. Phase 2 - System Enhancement &amp; Integration</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TBD</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Offshore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TBD</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TBD</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Scope and timeline to be finalized separately per proposal.</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52694976"/>
                  </a:ext>
                </a:extLst>
              </a:tr>
              <a:tr h="205358">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3621993"/>
                  </a:ext>
                </a:extLst>
              </a:tr>
              <a:tr h="189561">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r>
                        <a:rPr lang="en-IN" sz="900" u="none" strike="noStrike">
                          <a:effectLst/>
                        </a:rPr>
                        <a:t>Total Phase 1 Duration (Working Days)</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900" u="none" strike="noStrike">
                          <a:effectLst/>
                        </a:rPr>
                        <a:t>120</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631220"/>
                  </a:ext>
                </a:extLst>
              </a:tr>
              <a:tr h="189561">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r>
                        <a:rPr lang="en-IN" sz="900" u="none" strike="noStrike">
                          <a:effectLst/>
                        </a:rPr>
                        <a:t>Go-Live Date</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900" u="none" strike="noStrike">
                          <a:effectLst/>
                        </a:rPr>
                        <a:t>14-Dec-2026</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27530367"/>
                  </a:ext>
                </a:extLst>
              </a:tr>
              <a:tr h="189561">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r>
                        <a:rPr lang="en-IN" sz="900" u="none" strike="noStrike">
                          <a:effectLst/>
                        </a:rPr>
                        <a:t>Project Closure (Post Go-Live Support End)</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900" u="none" strike="noStrike">
                          <a:effectLst/>
                        </a:rPr>
                        <a:t>26-Jan-2027</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28361207"/>
                  </a:ext>
                </a:extLst>
              </a:tr>
              <a:tr h="205358">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r>
                        <a:rPr lang="en-IN" sz="900" u="none" strike="noStrike">
                          <a:effectLst/>
                        </a:rPr>
                        <a:t>Total Calendar Span (Kick-off to Closure, days)</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900" u="none" strike="noStrike">
                          <a:effectLst/>
                        </a:rPr>
                        <a:t>176</a:t>
                      </a:r>
                      <a:endParaRPr lang="en-IN" sz="9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07648906"/>
                  </a:ext>
                </a:extLst>
              </a:tr>
              <a:tr h="189561">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01409813"/>
                  </a:ext>
                </a:extLst>
              </a:tr>
              <a:tr h="189561">
                <a:tc>
                  <a:txBody>
                    <a:bodyPr/>
                    <a:lstStyle/>
                    <a:p>
                      <a:pPr algn="l" fontAlgn="b">
                        <a:buNone/>
                      </a:pPr>
                      <a:endParaRPr lang="en-IN" sz="900" b="1" i="0" u="none" strike="noStrike">
                        <a:solidFill>
                          <a:schemeClr val="bg1"/>
                        </a:solidFill>
                        <a:effectLst/>
                        <a:latin typeface="Calibri" panose="020F0502020204030204" pitchFamily="34" charset="0"/>
                      </a:endParaRPr>
                    </a:p>
                  </a:txBody>
                  <a:tcPr marL="9525" marR="9525" marT="9525" marB="0" anchor="b">
                    <a:solidFill>
                      <a:schemeClr val="accent2"/>
                    </a:solidFill>
                  </a:tcPr>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endParaRPr lang="en-IN" sz="9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5170356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Key Project Milestones</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a:t>
            </a:r>
            <a:endParaRPr lang="en-US" sz="1250" dirty="0">
              <a:solidFill>
                <a:schemeClr val="accent1"/>
              </a:solidFill>
            </a:endParaRPr>
          </a:p>
        </p:txBody>
      </p:sp>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16</a:t>
            </a:r>
            <a:endParaRPr lang="en-US" sz="900" dirty="0"/>
          </a:p>
        </p:txBody>
      </p:sp>
      <p:graphicFrame>
        <p:nvGraphicFramePr>
          <p:cNvPr id="7" name="Table 6">
            <a:extLst>
              <a:ext uri="{FF2B5EF4-FFF2-40B4-BE49-F238E27FC236}">
                <a16:creationId xmlns:a16="http://schemas.microsoft.com/office/drawing/2014/main" id="{8540F5F4-3120-53DA-B983-43DB191D43F0}"/>
              </a:ext>
            </a:extLst>
          </p:cNvPr>
          <p:cNvGraphicFramePr>
            <a:graphicFrameLocks noGrp="1"/>
          </p:cNvGraphicFramePr>
          <p:nvPr>
            <p:extLst>
              <p:ext uri="{D42A27DB-BD31-4B8C-83A1-F6EECF244321}">
                <p14:modId xmlns:p14="http://schemas.microsoft.com/office/powerpoint/2010/main" val="569030524"/>
              </p:ext>
            </p:extLst>
          </p:nvPr>
        </p:nvGraphicFramePr>
        <p:xfrm>
          <a:off x="283028" y="1508760"/>
          <a:ext cx="11448723" cy="4736590"/>
        </p:xfrm>
        <a:graphic>
          <a:graphicData uri="http://schemas.openxmlformats.org/drawingml/2006/table">
            <a:tbl>
              <a:tblPr>
                <a:tableStyleId>{5C22544A-7EE6-4342-B048-85BDC9FD1C3A}</a:tableStyleId>
              </a:tblPr>
              <a:tblGrid>
                <a:gridCol w="594739">
                  <a:extLst>
                    <a:ext uri="{9D8B030D-6E8A-4147-A177-3AD203B41FA5}">
                      <a16:colId xmlns:a16="http://schemas.microsoft.com/office/drawing/2014/main" val="3830902312"/>
                    </a:ext>
                  </a:extLst>
                </a:gridCol>
                <a:gridCol w="4163172">
                  <a:extLst>
                    <a:ext uri="{9D8B030D-6E8A-4147-A177-3AD203B41FA5}">
                      <a16:colId xmlns:a16="http://schemas.microsoft.com/office/drawing/2014/main" val="1722204694"/>
                    </a:ext>
                  </a:extLst>
                </a:gridCol>
                <a:gridCol w="941670">
                  <a:extLst>
                    <a:ext uri="{9D8B030D-6E8A-4147-A177-3AD203B41FA5}">
                      <a16:colId xmlns:a16="http://schemas.microsoft.com/office/drawing/2014/main" val="542661257"/>
                    </a:ext>
                  </a:extLst>
                </a:gridCol>
                <a:gridCol w="5749142">
                  <a:extLst>
                    <a:ext uri="{9D8B030D-6E8A-4147-A177-3AD203B41FA5}">
                      <a16:colId xmlns:a16="http://schemas.microsoft.com/office/drawing/2014/main" val="4101138951"/>
                    </a:ext>
                  </a:extLst>
                </a:gridCol>
              </a:tblGrid>
              <a:tr h="473659">
                <a:tc>
                  <a:txBody>
                    <a:bodyPr/>
                    <a:lstStyle/>
                    <a:p>
                      <a:pPr algn="ctr" fontAlgn="ctr">
                        <a:buNone/>
                      </a:pPr>
                      <a:r>
                        <a:rPr lang="en-IN" sz="900" b="1" u="none" strike="noStrike">
                          <a:solidFill>
                            <a:schemeClr val="bg1"/>
                          </a:solidFill>
                          <a:effectLst/>
                        </a:rPr>
                        <a:t>No.</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Milestone</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Target Date</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ctr" fontAlgn="ctr">
                        <a:buNone/>
                      </a:pPr>
                      <a:r>
                        <a:rPr lang="en-IN" sz="900" b="1" u="none" strike="noStrike">
                          <a:solidFill>
                            <a:schemeClr val="bg1"/>
                          </a:solidFill>
                          <a:effectLst/>
                        </a:rPr>
                        <a:t>Description / Exit Criteria</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extLst>
                  <a:ext uri="{0D108BD9-81ED-4DB2-BD59-A6C34878D82A}">
                    <a16:rowId xmlns:a16="http://schemas.microsoft.com/office/drawing/2014/main" val="3145936442"/>
                  </a:ext>
                </a:extLst>
              </a:tr>
              <a:tr h="473659">
                <a:tc>
                  <a:txBody>
                    <a:bodyPr/>
                    <a:lstStyle/>
                    <a:p>
                      <a:pPr algn="ctr" fontAlgn="ctr">
                        <a:buNone/>
                      </a:pPr>
                      <a:r>
                        <a:rPr lang="en-IN" sz="900" b="1" u="none" strike="noStrike">
                          <a:solidFill>
                            <a:schemeClr val="bg1"/>
                          </a:solidFill>
                          <a:effectLst/>
                        </a:rPr>
                        <a:t>M1</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Project Kick-off Complete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04-Aug-2026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Project charter confirmed, PMT, governance model and communication plan agreed.</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57886565"/>
                  </a:ext>
                </a:extLst>
              </a:tr>
              <a:tr h="473659">
                <a:tc>
                  <a:txBody>
                    <a:bodyPr/>
                    <a:lstStyle/>
                    <a:p>
                      <a:pPr algn="ctr" fontAlgn="ctr">
                        <a:buNone/>
                      </a:pPr>
                      <a:r>
                        <a:rPr lang="en-IN" sz="900" b="1" u="none" strike="noStrike">
                          <a:solidFill>
                            <a:schemeClr val="bg1"/>
                          </a:solidFill>
                          <a:effectLst/>
                        </a:rPr>
                        <a:t>M2</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Business Blueprint Sign-off</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08-Sep-2026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Business Blueprint Document reviewed and signed off by both parties.</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05184282"/>
                  </a:ext>
                </a:extLst>
              </a:tr>
              <a:tr h="473659">
                <a:tc>
                  <a:txBody>
                    <a:bodyPr/>
                    <a:lstStyle/>
                    <a:p>
                      <a:pPr algn="ctr" fontAlgn="ctr">
                        <a:buNone/>
                      </a:pPr>
                      <a:r>
                        <a:rPr lang="en-IN" sz="900" b="1" u="none" strike="noStrike">
                          <a:solidFill>
                            <a:schemeClr val="bg1"/>
                          </a:solidFill>
                          <a:effectLst/>
                        </a:rPr>
                        <a:t>M3</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Conference Room Pilot (CRP) Sign-off</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12-Oct-2026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Configured solution demonstrated and accepted by client stakeholders.</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23394608"/>
                  </a:ext>
                </a:extLst>
              </a:tr>
              <a:tr h="473659">
                <a:tc>
                  <a:txBody>
                    <a:bodyPr/>
                    <a:lstStyle/>
                    <a:p>
                      <a:pPr algn="ctr" fontAlgn="ctr">
                        <a:buNone/>
                      </a:pPr>
                      <a:r>
                        <a:rPr lang="en-IN" sz="900" b="1" u="none" strike="noStrike">
                          <a:solidFill>
                            <a:schemeClr val="bg1"/>
                          </a:solidFill>
                          <a:effectLst/>
                        </a:rPr>
                        <a:t>M4</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Integration &amp; Customization Complete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12-Nov-2026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NAVFarm-D365BC and NAVFarm-Pig Vision integrations built and unit tested.</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97753781"/>
                  </a:ext>
                </a:extLst>
              </a:tr>
              <a:tr h="473659">
                <a:tc>
                  <a:txBody>
                    <a:bodyPr/>
                    <a:lstStyle/>
                    <a:p>
                      <a:pPr algn="ctr" fontAlgn="ctr">
                        <a:buNone/>
                      </a:pPr>
                      <a:r>
                        <a:rPr lang="en-IN" sz="900" b="1" u="none" strike="noStrike">
                          <a:solidFill>
                            <a:schemeClr val="bg1"/>
                          </a:solidFill>
                          <a:effectLst/>
                        </a:rPr>
                        <a:t>M5</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Key User Training Complete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20-Nov-2026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Key users trained at the centralized location (Head Office).</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14861218"/>
                  </a:ext>
                </a:extLst>
              </a:tr>
              <a:tr h="473659">
                <a:tc>
                  <a:txBody>
                    <a:bodyPr/>
                    <a:lstStyle/>
                    <a:p>
                      <a:pPr algn="ctr" fontAlgn="ctr">
                        <a:buNone/>
                      </a:pPr>
                      <a:r>
                        <a:rPr lang="en-IN" sz="900" b="1" u="none" strike="noStrike">
                          <a:solidFill>
                            <a:schemeClr val="bg1"/>
                          </a:solidFill>
                          <a:effectLst/>
                        </a:rPr>
                        <a:t>M6</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User Testing (UAT) Complete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30-Nov-2026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User acceptance testing completed and signed off.</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75810116"/>
                  </a:ext>
                </a:extLst>
              </a:tr>
              <a:tr h="473659">
                <a:tc>
                  <a:txBody>
                    <a:bodyPr/>
                    <a:lstStyle/>
                    <a:p>
                      <a:pPr algn="ctr" fontAlgn="ctr">
                        <a:buNone/>
                      </a:pPr>
                      <a:r>
                        <a:rPr lang="en-IN" sz="900" b="1" u="none" strike="noStrike">
                          <a:solidFill>
                            <a:schemeClr val="bg1"/>
                          </a:solidFill>
                          <a:effectLst/>
                        </a:rPr>
                        <a:t>M7</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Data Migration Complete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08-Dec-2026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4 years of historical pig farm data migrated and validated in NAVFarm.</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79246449"/>
                  </a:ext>
                </a:extLst>
              </a:tr>
              <a:tr h="473659">
                <a:tc>
                  <a:txBody>
                    <a:bodyPr/>
                    <a:lstStyle/>
                    <a:p>
                      <a:pPr algn="ctr" fontAlgn="ctr">
                        <a:buNone/>
                      </a:pPr>
                      <a:r>
                        <a:rPr lang="en-IN" sz="900" b="1" u="none" strike="noStrike">
                          <a:solidFill>
                            <a:schemeClr val="bg1"/>
                          </a:solidFill>
                          <a:effectLst/>
                        </a:rPr>
                        <a:t>M8</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Go-Live</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14-Dec-2026</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Production cutover, NAVFarm live across all farms.</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37126903"/>
                  </a:ext>
                </a:extLst>
              </a:tr>
              <a:tr h="473659">
                <a:tc>
                  <a:txBody>
                    <a:bodyPr/>
                    <a:lstStyle/>
                    <a:p>
                      <a:pPr algn="ctr" fontAlgn="ctr">
                        <a:buNone/>
                      </a:pPr>
                      <a:r>
                        <a:rPr lang="en-IN" sz="900" b="1" u="none" strike="noStrike">
                          <a:solidFill>
                            <a:schemeClr val="bg1"/>
                          </a:solidFill>
                          <a:effectLst/>
                        </a:rPr>
                        <a:t>M9</a:t>
                      </a:r>
                      <a:endParaRPr lang="en-IN" sz="900" b="1" i="0" u="none" strike="noStrike">
                        <a:solidFill>
                          <a:schemeClr val="bg1"/>
                        </a:solidFill>
                        <a:effectLst/>
                        <a:latin typeface="Calibri" panose="020F0502020204030204" pitchFamily="34" charset="0"/>
                      </a:endParaRPr>
                    </a:p>
                  </a:txBody>
                  <a:tcPr marL="9525" marR="9525" marT="9525" marB="0" anchor="ctr">
                    <a:solidFill>
                      <a:schemeClr val="accent6">
                        <a:lumMod val="50000"/>
                      </a:schemeClr>
                    </a:solidFill>
                  </a:tcPr>
                </a:tc>
                <a:tc>
                  <a:txBody>
                    <a:bodyPr/>
                    <a:lstStyle/>
                    <a:p>
                      <a:pPr algn="l" fontAlgn="ctr">
                        <a:buNone/>
                      </a:pPr>
                      <a:r>
                        <a:rPr lang="en-IN" sz="900" u="none" strike="noStrike">
                          <a:effectLst/>
                        </a:rPr>
                        <a:t>Project Closure (Post Go-Live Support End)</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900" u="none" strike="noStrike">
                          <a:effectLst/>
                        </a:rPr>
                        <a:t>26-Jan-2027</a:t>
                      </a:r>
                      <a:endParaRPr lang="en-IN" sz="9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buNone/>
                      </a:pPr>
                      <a:r>
                        <a:rPr lang="en-IN" sz="900" u="none" strike="noStrike">
                          <a:effectLst/>
                        </a:rPr>
                        <a:t>1-month stabilization support complete, project handed to AMC/support agreement.</a:t>
                      </a:r>
                      <a:endParaRPr lang="en-IN" sz="9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4332899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Phase 2 - Future Enhancements</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  |  Scope &amp; timeline to be finalised</a:t>
            </a:r>
            <a:endParaRPr lang="en-US" sz="1250" dirty="0">
              <a:solidFill>
                <a:schemeClr val="accent1"/>
              </a:solidFill>
            </a:endParaRPr>
          </a:p>
        </p:txBody>
      </p:sp>
      <p:sp>
        <p:nvSpPr>
          <p:cNvPr id="4" name="Text 2"/>
          <p:cNvSpPr/>
          <p:nvPr/>
        </p:nvSpPr>
        <p:spPr>
          <a:xfrm>
            <a:off x="548640" y="1508760"/>
            <a:ext cx="548640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What Phase 2 Covers</a:t>
            </a:r>
            <a:endParaRPr lang="en-US" sz="1500" dirty="0"/>
          </a:p>
        </p:txBody>
      </p:sp>
      <p:sp>
        <p:nvSpPr>
          <p:cNvPr id="5" name="Text 3"/>
          <p:cNvSpPr/>
          <p:nvPr/>
        </p:nvSpPr>
        <p:spPr>
          <a:xfrm>
            <a:off x="548640" y="1874520"/>
            <a:ext cx="5394960" cy="329184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Further process improvements on the NAVFarm platform</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New reports and MIS development (NAVFarm or D365BC)</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Connecting NAVFarm to water meters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Connecting NAVFarm to silo weight scales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Any other integrations, once scoped and agreed</a:t>
            </a:r>
            <a:endParaRPr lang="en-US" sz="1300" dirty="0"/>
          </a:p>
        </p:txBody>
      </p:sp>
      <p:sp>
        <p:nvSpPr>
          <p:cNvPr id="6" name="Text 4"/>
          <p:cNvSpPr/>
          <p:nvPr/>
        </p:nvSpPr>
        <p:spPr>
          <a:xfrm>
            <a:off x="6309360" y="150876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Value It Brings</a:t>
            </a:r>
            <a:endParaRPr lang="en-US" sz="1500" dirty="0"/>
          </a:p>
        </p:txBody>
      </p:sp>
      <p:sp>
        <p:nvSpPr>
          <p:cNvPr id="7" name="Text 5"/>
          <p:cNvSpPr/>
          <p:nvPr/>
        </p:nvSpPr>
        <p:spPr>
          <a:xfrm>
            <a:off x="6309360" y="1874520"/>
            <a:ext cx="5303520" cy="329184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Removes manual meter and scale readings completely</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Extends the same real-time visibility to new equipment and data sources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Keeps NAVFarm evolving alongside Triple-C's operations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Adds new reports and process improvements as the business needs them</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Scope and effort for each item agreed with Triple-C only once confirmed</a:t>
            </a:r>
            <a:endParaRPr lang="en-US" sz="1300" dirty="0"/>
          </a:p>
        </p:txBody>
      </p:sp>
      <p:sp>
        <p:nvSpPr>
          <p:cNvPr id="8" name="Text 6"/>
          <p:cNvSpPr/>
          <p:nvPr/>
        </p:nvSpPr>
        <p:spPr>
          <a:xfrm>
            <a:off x="548640" y="5394960"/>
            <a:ext cx="11064240" cy="365760"/>
          </a:xfrm>
          <a:prstGeom prst="rect">
            <a:avLst/>
          </a:prstGeom>
          <a:noFill/>
          <a:ln/>
        </p:spPr>
        <p:txBody>
          <a:bodyPr wrap="square" lIns="0" tIns="0" rIns="0" bIns="0" rtlCol="0" anchor="ctr"/>
          <a:lstStyle/>
          <a:p>
            <a:pPr marL="0" indent="0">
              <a:buNone/>
            </a:pPr>
            <a:r>
              <a:rPr lang="en-US" sz="1150" i="1" dirty="0">
                <a:solidFill>
                  <a:srgbClr val="6E6E6E"/>
                </a:solidFill>
                <a:latin typeface="Calibri" pitchFamily="34" charset="0"/>
                <a:ea typeface="Calibri" pitchFamily="34" charset="-122"/>
                <a:cs typeface="Calibri" pitchFamily="34" charset="-120"/>
              </a:rPr>
              <a:t>Phase 2 will be delivered off-shore, with on-site visits arranged only if required.</a:t>
            </a:r>
            <a:endParaRPr lang="en-US" sz="1150" dirty="0"/>
          </a:p>
        </p:txBody>
      </p:sp>
      <p:sp>
        <p:nvSpPr>
          <p:cNvPr id="9" name="Text 7"/>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0"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Roles, Governance and Communication (1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sp>
        <p:nvSpPr>
          <p:cNvPr id="4" name="Text 2"/>
          <p:cNvSpPr/>
          <p:nvPr/>
        </p:nvSpPr>
        <p:spPr>
          <a:xfrm>
            <a:off x="548640" y="1463040"/>
            <a:ext cx="539496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Governance Structure</a:t>
            </a:r>
            <a:endParaRPr lang="en-US" sz="1500" dirty="0"/>
          </a:p>
        </p:txBody>
      </p:sp>
      <p:sp>
        <p:nvSpPr>
          <p:cNvPr id="5" name="Text 3"/>
          <p:cNvSpPr/>
          <p:nvPr/>
        </p:nvSpPr>
        <p:spPr>
          <a:xfrm>
            <a:off x="548640" y="1828800"/>
            <a:ext cx="5394960" cy="32004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Three-tier governance model: Client and Implementation Partner</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Director-level kickoff, then regular PM meetings</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Project Manager meetings held weekly</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Steering Committee meetings held monthly</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Standing Committee convened for escalations, as needed</a:t>
            </a:r>
            <a:endParaRPr lang="en-US" sz="1250" dirty="0"/>
          </a:p>
        </p:txBody>
      </p:sp>
      <p:sp>
        <p:nvSpPr>
          <p:cNvPr id="6" name="Text 4"/>
          <p:cNvSpPr/>
          <p:nvPr/>
        </p:nvSpPr>
        <p:spPr>
          <a:xfrm>
            <a:off x="6309360" y="146304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PMO Oversight Areas</a:t>
            </a:r>
            <a:endParaRPr lang="en-US" sz="1500" dirty="0"/>
          </a:p>
        </p:txBody>
      </p:sp>
      <p:sp>
        <p:nvSpPr>
          <p:cNvPr id="7" name="Text 5"/>
          <p:cNvSpPr/>
          <p:nvPr/>
        </p:nvSpPr>
        <p:spPr>
          <a:xfrm>
            <a:off x="6309360" y="1828800"/>
            <a:ext cx="5394960" cy="393192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250" b="1" dirty="0">
                <a:solidFill>
                  <a:srgbClr val="1F3B2E"/>
                </a:solidFill>
                <a:latin typeface="Calibri" pitchFamily="34" charset="0"/>
                <a:ea typeface="Calibri" pitchFamily="34" charset="-122"/>
                <a:cs typeface="Calibri" pitchFamily="34" charset="-120"/>
              </a:rPr>
              <a:t>Vendor Management</a:t>
            </a:r>
            <a:endParaRPr lang="en-US" sz="1250" dirty="0"/>
          </a:p>
          <a:p>
            <a:pPr marL="203200" indent="-203200">
              <a:lnSpc>
                <a:spcPct val="115000"/>
              </a:lnSpc>
              <a:spcAft>
                <a:spcPts val="500"/>
              </a:spcAft>
              <a:buSzPct val="100000"/>
              <a:buChar char="•"/>
            </a:pPr>
            <a:r>
              <a:rPr lang="en-US" sz="1200" dirty="0">
                <a:solidFill>
                  <a:srgbClr val="2B2B2B"/>
                </a:solidFill>
                <a:latin typeface="Calibri" pitchFamily="34" charset="0"/>
                <a:ea typeface="Calibri" pitchFamily="34" charset="-122"/>
                <a:cs typeface="Calibri" pitchFamily="34" charset="-120"/>
              </a:rPr>
              <a:t>ERP vendor assessment, RFP &amp; contracting, SLA and commercials</a:t>
            </a:r>
            <a:endParaRPr lang="en-US" sz="1250" dirty="0"/>
          </a:p>
          <a:p>
            <a:pPr marL="203200" indent="-203200">
              <a:lnSpc>
                <a:spcPct val="115000"/>
              </a:lnSpc>
              <a:spcAft>
                <a:spcPts val="500"/>
              </a:spcAft>
              <a:buSzPct val="100000"/>
              <a:buChar char="•"/>
            </a:pPr>
            <a:r>
              <a:rPr lang="en-US" sz="1250" b="1" dirty="0">
                <a:solidFill>
                  <a:srgbClr val="1F3B2E"/>
                </a:solidFill>
                <a:latin typeface="Calibri" pitchFamily="34" charset="0"/>
                <a:ea typeface="Calibri" pitchFamily="34" charset="-122"/>
                <a:cs typeface="Calibri" pitchFamily="34" charset="-120"/>
              </a:rPr>
              <a:t>Risk &amp; Change Management</a:t>
            </a:r>
            <a:endParaRPr lang="en-US" sz="1250" dirty="0"/>
          </a:p>
          <a:p>
            <a:pPr marL="203200" indent="-203200">
              <a:lnSpc>
                <a:spcPct val="115000"/>
              </a:lnSpc>
              <a:spcAft>
                <a:spcPts val="500"/>
              </a:spcAft>
              <a:buSzPct val="100000"/>
              <a:buChar char="•"/>
            </a:pPr>
            <a:r>
              <a:rPr lang="en-US" sz="1200" dirty="0">
                <a:solidFill>
                  <a:srgbClr val="2B2B2B"/>
                </a:solidFill>
                <a:latin typeface="Calibri" pitchFamily="34" charset="0"/>
                <a:ea typeface="Calibri" pitchFamily="34" charset="-122"/>
                <a:cs typeface="Calibri" pitchFamily="34" charset="-120"/>
              </a:rPr>
              <a:t>Risk assessment, change request control, scope governance</a:t>
            </a:r>
            <a:endParaRPr lang="en-US" sz="1250" dirty="0"/>
          </a:p>
          <a:p>
            <a:pPr marL="203200" indent="-203200">
              <a:lnSpc>
                <a:spcPct val="115000"/>
              </a:lnSpc>
              <a:spcAft>
                <a:spcPts val="500"/>
              </a:spcAft>
              <a:buSzPct val="100000"/>
              <a:buChar char="•"/>
            </a:pPr>
            <a:r>
              <a:rPr lang="en-US" sz="1250" b="1" dirty="0">
                <a:solidFill>
                  <a:srgbClr val="1F3B2E"/>
                </a:solidFill>
                <a:latin typeface="Calibri" pitchFamily="34" charset="0"/>
                <a:ea typeface="Calibri" pitchFamily="34" charset="-122"/>
                <a:cs typeface="Calibri" pitchFamily="34" charset="-120"/>
              </a:rPr>
              <a:t>Implementation Oversight</a:t>
            </a:r>
            <a:endParaRPr lang="en-US" sz="1250" dirty="0"/>
          </a:p>
          <a:p>
            <a:pPr marL="203200" indent="-203200">
              <a:lnSpc>
                <a:spcPct val="115000"/>
              </a:lnSpc>
              <a:spcAft>
                <a:spcPts val="500"/>
              </a:spcAft>
              <a:buSzPct val="100000"/>
              <a:buChar char="•"/>
            </a:pPr>
            <a:r>
              <a:rPr lang="en-US" sz="1200" dirty="0">
                <a:solidFill>
                  <a:srgbClr val="2B2B2B"/>
                </a:solidFill>
                <a:latin typeface="Calibri" pitchFamily="34" charset="0"/>
                <a:ea typeface="Calibri" pitchFamily="34" charset="-122"/>
                <a:cs typeface="Calibri" pitchFamily="34" charset="-120"/>
              </a:rPr>
              <a:t>Project planning, milestone tracking, issue resolution</a:t>
            </a:r>
            <a:endParaRPr lang="en-US" sz="1250" dirty="0"/>
          </a:p>
          <a:p>
            <a:pPr marL="203200" indent="-203200">
              <a:lnSpc>
                <a:spcPct val="115000"/>
              </a:lnSpc>
              <a:spcAft>
                <a:spcPts val="500"/>
              </a:spcAft>
              <a:buSzPct val="100000"/>
              <a:buChar char="•"/>
            </a:pPr>
            <a:r>
              <a:rPr lang="en-US" sz="1250" b="1" dirty="0">
                <a:solidFill>
                  <a:srgbClr val="1F3B2E"/>
                </a:solidFill>
                <a:latin typeface="Calibri" pitchFamily="34" charset="0"/>
                <a:ea typeface="Calibri" pitchFamily="34" charset="-122"/>
                <a:cs typeface="Calibri" pitchFamily="34" charset="-120"/>
              </a:rPr>
              <a:t>UAT &amp; Go-Live Readiness</a:t>
            </a:r>
            <a:endParaRPr lang="en-US" sz="1250" dirty="0"/>
          </a:p>
          <a:p>
            <a:pPr marL="203200" indent="-203200">
              <a:lnSpc>
                <a:spcPct val="115000"/>
              </a:lnSpc>
              <a:spcAft>
                <a:spcPts val="500"/>
              </a:spcAft>
              <a:buSzPct val="100000"/>
              <a:buChar char="•"/>
            </a:pPr>
            <a:r>
              <a:rPr lang="en-US" sz="1200" dirty="0">
                <a:solidFill>
                  <a:srgbClr val="2B2B2B"/>
                </a:solidFill>
                <a:latin typeface="Calibri" pitchFamily="34" charset="0"/>
                <a:ea typeface="Calibri" pitchFamily="34" charset="-122"/>
                <a:cs typeface="Calibri" pitchFamily="34" charset="-120"/>
              </a:rPr>
              <a:t>UAT management, data validation, handover &amp; transition</a:t>
            </a:r>
            <a:endParaRPr lang="en-US" sz="1250" dirty="0"/>
          </a:p>
        </p:txBody>
      </p:sp>
      <p:sp>
        <p:nvSpPr>
          <p:cNvPr id="8" name="Text 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9" name="Text 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Roles, Governance and Communication (2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sp>
        <p:nvSpPr>
          <p:cNvPr id="4" name="Text 2"/>
          <p:cNvSpPr/>
          <p:nvPr/>
        </p:nvSpPr>
        <p:spPr>
          <a:xfrm>
            <a:off x="548640" y="1463040"/>
            <a:ext cx="539496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Communication &amp; Reporting</a:t>
            </a:r>
            <a:endParaRPr lang="en-US" sz="1500" dirty="0"/>
          </a:p>
        </p:txBody>
      </p:sp>
      <p:sp>
        <p:nvSpPr>
          <p:cNvPr id="5" name="Text 3"/>
          <p:cNvSpPr/>
          <p:nvPr/>
        </p:nvSpPr>
        <p:spPr>
          <a:xfrm>
            <a:off x="548640" y="1828800"/>
            <a:ext cx="5394960" cy="27432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Weekly status reports: activities, risks, schedule/cost impact</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Fortnightly PMO reports for wider governance visibility</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Regular project status reporting against the plan (% complete, RAG status)</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Change requests managed via formal sign-off on scope, timeline and cost</a:t>
            </a:r>
            <a:endParaRPr lang="en-US" sz="1250" dirty="0"/>
          </a:p>
        </p:txBody>
      </p:sp>
      <p:sp>
        <p:nvSpPr>
          <p:cNvPr id="6" name="Text 4"/>
          <p:cNvSpPr/>
          <p:nvPr/>
        </p:nvSpPr>
        <p:spPr>
          <a:xfrm>
            <a:off x="6309360" y="146304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Documentation Repository (Microsoft Teams)</a:t>
            </a:r>
            <a:endParaRPr lang="en-US" sz="1500" dirty="0"/>
          </a:p>
        </p:txBody>
      </p:sp>
      <p:sp>
        <p:nvSpPr>
          <p:cNvPr id="7" name="Text 5"/>
          <p:cNvSpPr/>
          <p:nvPr/>
        </p:nvSpPr>
        <p:spPr>
          <a:xfrm>
            <a:off x="6309360" y="1828800"/>
            <a:ext cx="5394960" cy="27432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All project documents held centrally in Microsoft Teams</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Organised by stage: Initiation, Planning, Execution, Monitoring &amp; Control, Closing</a:t>
            </a:r>
            <a:endParaRPr lang="en-US" sz="1250" dirty="0"/>
          </a:p>
          <a:p>
            <a:pPr marL="203200" indent="-203200">
              <a:lnSpc>
                <a:spcPct val="115000"/>
              </a:lnSpc>
              <a:spcAft>
                <a:spcPts val="900"/>
              </a:spcAft>
              <a:buSzPct val="100000"/>
              <a:buChar char="•"/>
            </a:pPr>
            <a:r>
              <a:rPr lang="en-US" sz="1250" dirty="0">
                <a:solidFill>
                  <a:srgbClr val="2B2B2B"/>
                </a:solidFill>
                <a:latin typeface="Calibri" pitchFamily="34" charset="0"/>
                <a:ea typeface="Calibri" pitchFamily="34" charset="-122"/>
                <a:cs typeface="Calibri" pitchFamily="34" charset="-120"/>
              </a:rPr>
              <a:t>One shared source of truth for both teams throughout the project</a:t>
            </a:r>
            <a:endParaRPr lang="en-US" sz="1250" dirty="0"/>
          </a:p>
        </p:txBody>
      </p:sp>
      <p:sp>
        <p:nvSpPr>
          <p:cNvPr id="8" name="Text 6"/>
          <p:cNvSpPr/>
          <p:nvPr/>
        </p:nvSpPr>
        <p:spPr>
          <a:xfrm>
            <a:off x="548640" y="4709160"/>
            <a:ext cx="1088136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Escalation Path</a:t>
            </a:r>
            <a:endParaRPr lang="en-US" sz="1500" dirty="0"/>
          </a:p>
        </p:txBody>
      </p:sp>
      <p:sp>
        <p:nvSpPr>
          <p:cNvPr id="9" name="Text 7"/>
          <p:cNvSpPr/>
          <p:nvPr/>
        </p:nvSpPr>
        <p:spPr>
          <a:xfrm>
            <a:off x="548640" y="5074920"/>
            <a:ext cx="10881360" cy="457200"/>
          </a:xfrm>
          <a:prstGeom prst="rect">
            <a:avLst/>
          </a:prstGeom>
          <a:noFill/>
          <a:ln/>
        </p:spPr>
        <p:txBody>
          <a:bodyPr wrap="square" lIns="0" tIns="0" rIns="0" bIns="0" rtlCol="0" anchor="ctr"/>
          <a:lstStyle/>
          <a:p>
            <a:r>
              <a:rPr lang="en-US" sz="1300" b="1" dirty="0">
                <a:solidFill>
                  <a:srgbClr val="1F3B2E"/>
                </a:solidFill>
                <a:latin typeface="Calibri" pitchFamily="34" charset="0"/>
                <a:ea typeface="Calibri" pitchFamily="34" charset="-122"/>
                <a:cs typeface="Calibri" pitchFamily="34" charset="-120"/>
              </a:rPr>
              <a:t>Support Team  →  Project Manager  →  Project Management Office (PMO) → Project/ Operation Director</a:t>
            </a:r>
            <a:endParaRPr lang="en-US" sz="1300" dirty="0"/>
          </a:p>
        </p:txBody>
      </p:sp>
      <p:sp>
        <p:nvSpPr>
          <p:cNvPr id="10" name="Text 8"/>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1" name="Text 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19</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Operational Considerations &amp; Risk Management (1 of 2)</a:t>
            </a:r>
            <a:endParaRPr lang="en-US" sz="2400" dirty="0"/>
          </a:p>
        </p:txBody>
      </p:sp>
      <p:sp>
        <p:nvSpPr>
          <p:cNvPr id="3" name="Text 1"/>
          <p:cNvSpPr/>
          <p:nvPr/>
        </p:nvSpPr>
        <p:spPr>
          <a:xfrm>
            <a:off x="548640" y="1508760"/>
            <a:ext cx="521208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a)  Biosecurity Considerations</a:t>
            </a:r>
            <a:endParaRPr lang="en-US" sz="1500" dirty="0"/>
          </a:p>
        </p:txBody>
      </p:sp>
      <p:sp>
        <p:nvSpPr>
          <p:cNvPr id="4" name="Text 2"/>
          <p:cNvSpPr/>
          <p:nvPr/>
        </p:nvSpPr>
        <p:spPr>
          <a:xfrm>
            <a:off x="548640" y="1810512"/>
            <a:ext cx="5212080" cy="274320"/>
          </a:xfrm>
          <a:prstGeom prst="rect">
            <a:avLst/>
          </a:prstGeom>
          <a:noFill/>
          <a:ln/>
        </p:spPr>
        <p:txBody>
          <a:bodyPr wrap="square" lIns="0" tIns="0" rIns="0" bIns="0" rtlCol="0" anchor="ctr"/>
          <a:lstStyle/>
          <a:p>
            <a:pPr marL="0" indent="0">
              <a:buNone/>
            </a:pPr>
            <a:r>
              <a:rPr lang="en-US" sz="1200" i="1" dirty="0">
                <a:solidFill>
                  <a:srgbClr val="6E6E6E"/>
                </a:solidFill>
                <a:latin typeface="Calibri" pitchFamily="34" charset="0"/>
                <a:ea typeface="Calibri" pitchFamily="34" charset="-122"/>
                <a:cs typeface="Calibri" pitchFamily="34" charset="-120"/>
              </a:rPr>
              <a:t>Johan Odendaal</a:t>
            </a:r>
            <a:endParaRPr lang="en-US" sz="1200" dirty="0"/>
          </a:p>
        </p:txBody>
      </p:sp>
      <p:sp>
        <p:nvSpPr>
          <p:cNvPr id="5" name="Text 3"/>
          <p:cNvSpPr/>
          <p:nvPr/>
        </p:nvSpPr>
        <p:spPr>
          <a:xfrm>
            <a:off x="548640" y="2148840"/>
            <a:ext cx="5394960" cy="3840480"/>
          </a:xfrm>
          <a:prstGeom prst="rect">
            <a:avLst/>
          </a:prstGeom>
          <a:noFill/>
          <a:ln/>
        </p:spPr>
        <p:txBody>
          <a:bodyPr wrap="square" lIns="0" tIns="0" rIns="0" bIns="0" rtlCol="0" anchor="t"/>
          <a:lstStyle/>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Device and mobile app use on farm - clear hygiene protocols needed</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Access control for field data capture teams entering different farm zones</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RFID tag application and equipment handling near livestock</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Cleaning and disinfection routine for devices shared between sheds</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Alignment with existing farm biosecurity procedures and visitor protocols</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Confirm whether any devices should be dedicated to a single farm/shed</a:t>
            </a:r>
            <a:endParaRPr lang="en-US" sz="1150" dirty="0"/>
          </a:p>
        </p:txBody>
      </p:sp>
      <p:sp>
        <p:nvSpPr>
          <p:cNvPr id="6" name="Text 4"/>
          <p:cNvSpPr/>
          <p:nvPr/>
        </p:nvSpPr>
        <p:spPr>
          <a:xfrm>
            <a:off x="6309360" y="150876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b)  Farm Workflows &amp; Inputs</a:t>
            </a:r>
            <a:endParaRPr lang="en-US" sz="1500" dirty="0"/>
          </a:p>
        </p:txBody>
      </p:sp>
      <p:sp>
        <p:nvSpPr>
          <p:cNvPr id="7" name="Text 5"/>
          <p:cNvSpPr/>
          <p:nvPr/>
        </p:nvSpPr>
        <p:spPr>
          <a:xfrm>
            <a:off x="6309360" y="1810512"/>
            <a:ext cx="5303520" cy="274320"/>
          </a:xfrm>
          <a:prstGeom prst="rect">
            <a:avLst/>
          </a:prstGeom>
          <a:noFill/>
          <a:ln/>
        </p:spPr>
        <p:txBody>
          <a:bodyPr wrap="square" lIns="0" tIns="0" rIns="0" bIns="0" rtlCol="0" anchor="ctr"/>
          <a:lstStyle/>
          <a:p>
            <a:pPr marL="0" indent="0">
              <a:buNone/>
            </a:pPr>
            <a:r>
              <a:rPr lang="en-US" sz="1200" i="1" dirty="0">
                <a:solidFill>
                  <a:srgbClr val="6E6E6E"/>
                </a:solidFill>
                <a:latin typeface="Calibri" pitchFamily="34" charset="0"/>
                <a:ea typeface="Calibri" pitchFamily="34" charset="-122"/>
                <a:cs typeface="Calibri" pitchFamily="34" charset="-120"/>
              </a:rPr>
              <a:t>John Nyabadza</a:t>
            </a:r>
            <a:endParaRPr lang="en-US" sz="1200" dirty="0"/>
          </a:p>
        </p:txBody>
      </p:sp>
      <p:sp>
        <p:nvSpPr>
          <p:cNvPr id="8" name="Text 6"/>
          <p:cNvSpPr/>
          <p:nvPr/>
        </p:nvSpPr>
        <p:spPr>
          <a:xfrm>
            <a:off x="6309360" y="2148840"/>
            <a:ext cx="5394960" cy="3840480"/>
          </a:xfrm>
          <a:prstGeom prst="rect">
            <a:avLst/>
          </a:prstGeom>
          <a:noFill/>
          <a:ln/>
        </p:spPr>
        <p:txBody>
          <a:bodyPr wrap="square" lIns="0" tIns="0" rIns="0" bIns="0" rtlCol="0" anchor="t"/>
          <a:lstStyle/>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Map current daily/weekly farm data capture workflows, farm by farm</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Confirm offline data capture needs where connectivity is limited</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Review how feed, health and mortality data is currently recorded</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Identify who captures data today, and who will do so in NAVFarm</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Agree how paper/Excel records will transition to digital entry</a:t>
            </a:r>
            <a:endParaRPr lang="en-US" sz="1150" dirty="0"/>
          </a:p>
          <a:p>
            <a:pPr marL="203200" indent="-203200">
              <a:lnSpc>
                <a:spcPct val="115000"/>
              </a:lnSpc>
              <a:spcAft>
                <a:spcPts val="700"/>
              </a:spcAft>
              <a:buSzPct val="100000"/>
              <a:buChar char="•"/>
            </a:pPr>
            <a:r>
              <a:rPr lang="en-US" sz="1150" dirty="0">
                <a:solidFill>
                  <a:srgbClr val="2B2B2B"/>
                </a:solidFill>
                <a:latin typeface="Calibri" pitchFamily="34" charset="0"/>
                <a:ea typeface="Calibri" pitchFamily="34" charset="-122"/>
                <a:cs typeface="Calibri" pitchFamily="34" charset="-120"/>
              </a:rPr>
              <a:t>Align these workflows with the NAVFarm process design during the Business Process Study</a:t>
            </a:r>
            <a:endParaRPr lang="en-US" sz="1150" dirty="0"/>
          </a:p>
        </p:txBody>
      </p:sp>
      <p:sp>
        <p:nvSpPr>
          <p:cNvPr id="9" name="Text 7"/>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10"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Operational Considerations &amp; Risk Management (2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Project risk register for discussion</a:t>
            </a:r>
            <a:endParaRPr lang="en-US" sz="1250" dirty="0">
              <a:solidFill>
                <a:schemeClr val="accent1"/>
              </a:solidFill>
            </a:endParaRPr>
          </a:p>
        </p:txBody>
      </p:sp>
      <p:graphicFrame>
        <p:nvGraphicFramePr>
          <p:cNvPr id="23" name="Table 0"/>
          <p:cNvGraphicFramePr>
            <a:graphicFrameLocks noGrp="1"/>
          </p:cNvGraphicFramePr>
          <p:nvPr>
            <p:extLst>
              <p:ext uri="{D42A27DB-BD31-4B8C-83A1-F6EECF244321}">
                <p14:modId xmlns:p14="http://schemas.microsoft.com/office/powerpoint/2010/main" val="10907337"/>
              </p:ext>
            </p:extLst>
          </p:nvPr>
        </p:nvGraphicFramePr>
        <p:xfrm>
          <a:off x="548640" y="1554479"/>
          <a:ext cx="11064240" cy="3043399"/>
        </p:xfrm>
        <a:graphic>
          <a:graphicData uri="http://schemas.openxmlformats.org/drawingml/2006/table">
            <a:tbl>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46365">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How We'll Manage It</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43283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Farm connectivity gaps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Some farms may have limited internet access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Offline data capture in the NAVFarm mobile app, syncing when connected</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283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Data migration accuracy</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4 years of historical data must be clean and correctly formatted</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Data provided in NAVFarm template, validated before go-live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43283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User adoption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Staff used to paper/Excel may resist new digital workflows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Farm champions, structured training, clear change communication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283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Timeline dependencies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Delays in data, approvals or feedback affect the plan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Weekly status reporting and early escalation via PMO</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43283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Biosecurity exposure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New devices and field visits near livestock</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Hygiene protocols agreed with farm management before rollout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283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Scope creep</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Ad hoc requests outside the signed proposal</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Formal Change Request process for anything beyond agreed scope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Resource Allocation &amp; Organisational Change Management (1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Group Finance Director</a:t>
            </a:r>
            <a:endParaRPr lang="en-US" sz="1250" dirty="0">
              <a:solidFill>
                <a:schemeClr val="accent1"/>
              </a:solidFill>
            </a:endParaRPr>
          </a:p>
        </p:txBody>
      </p:sp>
      <p:sp>
        <p:nvSpPr>
          <p:cNvPr id="4" name="Text 2"/>
          <p:cNvSpPr/>
          <p:nvPr/>
        </p:nvSpPr>
        <p:spPr>
          <a:xfrm>
            <a:off x="548640" y="1508760"/>
            <a:ext cx="521208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Resource Allocation</a:t>
            </a:r>
            <a:endParaRPr lang="en-US" sz="1500" dirty="0"/>
          </a:p>
        </p:txBody>
      </p:sp>
      <p:sp>
        <p:nvSpPr>
          <p:cNvPr id="5" name="Text 3"/>
          <p:cNvSpPr/>
          <p:nvPr/>
        </p:nvSpPr>
        <p:spPr>
          <a:xfrm>
            <a:off x="548640" y="1828800"/>
            <a:ext cx="5394960" cy="32004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Timely access to data, users and infrastructure is Triple-C's responsibility</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Key user availability is required for training and testing (15 days)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IT resources needed for integration and data migration support</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Farm-level champions needed at each site for rollout</a:t>
            </a:r>
            <a:endParaRPr lang="en-US" sz="1300" dirty="0"/>
          </a:p>
        </p:txBody>
      </p:sp>
      <p:sp>
        <p:nvSpPr>
          <p:cNvPr id="6" name="Text 4"/>
          <p:cNvSpPr/>
          <p:nvPr/>
        </p:nvSpPr>
        <p:spPr>
          <a:xfrm>
            <a:off x="6309360" y="1508760"/>
            <a:ext cx="5303520" cy="320040"/>
          </a:xfrm>
          <a:prstGeom prst="rect">
            <a:avLst/>
          </a:prstGeom>
          <a:noFill/>
          <a:ln/>
        </p:spPr>
        <p:txBody>
          <a:bodyPr wrap="square" lIns="0" tIns="0" rIns="0" bIns="0" rtlCol="0" anchor="ctr"/>
          <a:lstStyle/>
          <a:p>
            <a:pPr marL="0" indent="0">
              <a:buNone/>
            </a:pPr>
            <a:r>
              <a:rPr lang="en-US" sz="1500" b="1" dirty="0">
                <a:solidFill>
                  <a:srgbClr val="1F3B2E"/>
                </a:solidFill>
                <a:latin typeface="Cambria" pitchFamily="34" charset="0"/>
                <a:ea typeface="Cambria" pitchFamily="34" charset="-122"/>
                <a:cs typeface="Cambria" pitchFamily="34" charset="-120"/>
              </a:rPr>
              <a:t>Change Management</a:t>
            </a:r>
            <a:endParaRPr lang="en-US" sz="1500" dirty="0"/>
          </a:p>
        </p:txBody>
      </p:sp>
      <p:sp>
        <p:nvSpPr>
          <p:cNvPr id="7" name="Text 5"/>
          <p:cNvSpPr/>
          <p:nvPr/>
        </p:nvSpPr>
        <p:spPr>
          <a:xfrm>
            <a:off x="6309360" y="1828800"/>
            <a:ext cx="5394960" cy="3200400"/>
          </a:xfrm>
          <a:prstGeom prst="rect">
            <a:avLst/>
          </a:prstGeom>
          <a:noFill/>
          <a:ln/>
        </p:spPr>
        <p:txBody>
          <a:bodyPr wrap="square" lIns="0" tIns="0" rIns="0" bIns="0" rtlCol="0" anchor="t"/>
          <a:lstStyle/>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HR involvement in adoption planning (Human Capital role)</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Clear communication of new digital workflows to farm teams</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End-user training beyond key users available at extra cost</a:t>
            </a:r>
            <a:endParaRPr lang="en-US" sz="1300" dirty="0"/>
          </a:p>
          <a:p>
            <a:pPr marL="203200" indent="-203200">
              <a:lnSpc>
                <a:spcPct val="115000"/>
              </a:lnSpc>
              <a:spcAft>
                <a:spcPts val="900"/>
              </a:spcAft>
              <a:buSzPct val="100000"/>
              <a:buChar char="•"/>
            </a:pPr>
            <a:r>
              <a:rPr lang="en-US" sz="1300" dirty="0">
                <a:solidFill>
                  <a:srgbClr val="2B2B2B"/>
                </a:solidFill>
                <a:latin typeface="Calibri" pitchFamily="34" charset="0"/>
                <a:ea typeface="Calibri" pitchFamily="34" charset="-122"/>
                <a:cs typeface="Calibri" pitchFamily="34" charset="-120"/>
              </a:rPr>
              <a:t>Delays in approvals, data or feedback may push out timelines</a:t>
            </a:r>
            <a:endParaRPr lang="en-US" sz="1300" dirty="0"/>
          </a:p>
        </p:txBody>
      </p:sp>
      <p:sp>
        <p:nvSpPr>
          <p:cNvPr id="8" name="Text 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9" name="Text 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Resource Allocation &amp; Organisational Change Management (2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How Triple-C can start preparing, from today</a:t>
            </a:r>
            <a:endParaRPr lang="en-US" sz="1250" dirty="0">
              <a:solidFill>
                <a:schemeClr val="accent1"/>
              </a:solidFill>
            </a:endParaRPr>
          </a:p>
        </p:txBody>
      </p:sp>
      <p:sp>
        <p:nvSpPr>
          <p:cNvPr id="4" name="Shape 2"/>
          <p:cNvSpPr/>
          <p:nvPr/>
        </p:nvSpPr>
        <p:spPr>
          <a:xfrm>
            <a:off x="548640" y="1627632"/>
            <a:ext cx="292608" cy="292608"/>
          </a:xfrm>
          <a:prstGeom prst="ellipse">
            <a:avLst/>
          </a:prstGeom>
          <a:solidFill>
            <a:srgbClr val="1F3B2E"/>
          </a:solidFill>
          <a:ln/>
        </p:spPr>
      </p:sp>
      <p:sp>
        <p:nvSpPr>
          <p:cNvPr id="5" name="Text 3"/>
          <p:cNvSpPr/>
          <p:nvPr/>
        </p:nvSpPr>
        <p:spPr>
          <a:xfrm>
            <a:off x="548640" y="16276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05840" y="1462176"/>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Share the project vision and goals with all farm and finance teams, the earlier people understand 'why', the easier adoption will be</a:t>
            </a:r>
            <a:endParaRPr lang="en-US" sz="1250" dirty="0"/>
          </a:p>
        </p:txBody>
      </p:sp>
      <p:sp>
        <p:nvSpPr>
          <p:cNvPr id="7" name="Shape 5"/>
          <p:cNvSpPr/>
          <p:nvPr/>
        </p:nvSpPr>
        <p:spPr>
          <a:xfrm>
            <a:off x="548640" y="2203704"/>
            <a:ext cx="292608" cy="292608"/>
          </a:xfrm>
          <a:prstGeom prst="ellipse">
            <a:avLst/>
          </a:prstGeom>
          <a:solidFill>
            <a:srgbClr val="1F3B2E"/>
          </a:solidFill>
          <a:ln/>
        </p:spPr>
      </p:sp>
      <p:sp>
        <p:nvSpPr>
          <p:cNvPr id="8" name="Text 6"/>
          <p:cNvSpPr/>
          <p:nvPr/>
        </p:nvSpPr>
        <p:spPr>
          <a:xfrm>
            <a:off x="548640" y="22037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05840" y="2055505"/>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Nominate a change champion at each farm to support colleagues through the transition</a:t>
            </a:r>
            <a:endParaRPr lang="en-US" sz="1250" dirty="0"/>
          </a:p>
        </p:txBody>
      </p:sp>
      <p:sp>
        <p:nvSpPr>
          <p:cNvPr id="10" name="Shape 8"/>
          <p:cNvSpPr/>
          <p:nvPr/>
        </p:nvSpPr>
        <p:spPr>
          <a:xfrm>
            <a:off x="548640" y="2779776"/>
            <a:ext cx="292608" cy="292608"/>
          </a:xfrm>
          <a:prstGeom prst="ellipse">
            <a:avLst/>
          </a:prstGeom>
          <a:solidFill>
            <a:srgbClr val="1F3B2E"/>
          </a:solidFill>
          <a:ln/>
        </p:spPr>
      </p:sp>
      <p:sp>
        <p:nvSpPr>
          <p:cNvPr id="11" name="Text 9"/>
          <p:cNvSpPr/>
          <p:nvPr/>
        </p:nvSpPr>
        <p:spPr>
          <a:xfrm>
            <a:off x="548640" y="277977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05840" y="2648830"/>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Start gathering and organising current records - feed sheets, health cards, registers - ready for the Business Process Study</a:t>
            </a:r>
            <a:endParaRPr lang="en-US" sz="1250" dirty="0"/>
          </a:p>
        </p:txBody>
      </p:sp>
      <p:sp>
        <p:nvSpPr>
          <p:cNvPr id="13" name="Shape 11"/>
          <p:cNvSpPr/>
          <p:nvPr/>
        </p:nvSpPr>
        <p:spPr>
          <a:xfrm>
            <a:off x="548640" y="3355848"/>
            <a:ext cx="292608" cy="292608"/>
          </a:xfrm>
          <a:prstGeom prst="ellipse">
            <a:avLst/>
          </a:prstGeom>
          <a:solidFill>
            <a:srgbClr val="1F3B2E"/>
          </a:solidFill>
          <a:ln/>
        </p:spPr>
      </p:sp>
      <p:sp>
        <p:nvSpPr>
          <p:cNvPr id="14" name="Text 12"/>
          <p:cNvSpPr/>
          <p:nvPr/>
        </p:nvSpPr>
        <p:spPr>
          <a:xfrm>
            <a:off x="548640" y="33558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05840" y="3207649"/>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Begin the mindset shift from paper/manual entry towards structured, digital data capture</a:t>
            </a:r>
            <a:endParaRPr lang="en-US" sz="1250" dirty="0"/>
          </a:p>
        </p:txBody>
      </p:sp>
      <p:sp>
        <p:nvSpPr>
          <p:cNvPr id="16" name="Shape 14"/>
          <p:cNvSpPr/>
          <p:nvPr/>
        </p:nvSpPr>
        <p:spPr>
          <a:xfrm>
            <a:off x="548640" y="3931920"/>
            <a:ext cx="292608" cy="292608"/>
          </a:xfrm>
          <a:prstGeom prst="ellipse">
            <a:avLst/>
          </a:prstGeom>
          <a:solidFill>
            <a:srgbClr val="1F3B2E"/>
          </a:solidFill>
          <a:ln/>
        </p:spPr>
      </p:sp>
      <p:sp>
        <p:nvSpPr>
          <p:cNvPr id="17" name="Text 15"/>
          <p:cNvSpPr/>
          <p:nvPr/>
        </p:nvSpPr>
        <p:spPr>
          <a:xfrm>
            <a:off x="548640" y="39319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005840" y="3783723"/>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Check connectivity and device availability at each farm, and flag any gaps early</a:t>
            </a:r>
            <a:endParaRPr lang="en-US" sz="1250" dirty="0"/>
          </a:p>
        </p:txBody>
      </p:sp>
      <p:sp>
        <p:nvSpPr>
          <p:cNvPr id="19" name="Shape 17"/>
          <p:cNvSpPr/>
          <p:nvPr/>
        </p:nvSpPr>
        <p:spPr>
          <a:xfrm>
            <a:off x="548640" y="4507992"/>
            <a:ext cx="292608" cy="292608"/>
          </a:xfrm>
          <a:prstGeom prst="ellipse">
            <a:avLst/>
          </a:prstGeom>
          <a:solidFill>
            <a:srgbClr val="1F3B2E"/>
          </a:solidFill>
          <a:ln/>
        </p:spPr>
      </p:sp>
      <p:sp>
        <p:nvSpPr>
          <p:cNvPr id="20" name="Text 18"/>
          <p:cNvSpPr/>
          <p:nvPr/>
        </p:nvSpPr>
        <p:spPr>
          <a:xfrm>
            <a:off x="548640" y="450799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005840" y="4342542"/>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Block key users' calendars in advance for training and testing (15 days)</a:t>
            </a:r>
            <a:endParaRPr lang="en-US" sz="1250" dirty="0"/>
          </a:p>
        </p:txBody>
      </p:sp>
      <p:sp>
        <p:nvSpPr>
          <p:cNvPr id="22" name="Shape 20"/>
          <p:cNvSpPr/>
          <p:nvPr/>
        </p:nvSpPr>
        <p:spPr>
          <a:xfrm>
            <a:off x="548640" y="5084064"/>
            <a:ext cx="292608" cy="292608"/>
          </a:xfrm>
          <a:prstGeom prst="ellipse">
            <a:avLst/>
          </a:prstGeom>
          <a:solidFill>
            <a:srgbClr val="1F3B2E"/>
          </a:solidFill>
          <a:ln/>
        </p:spPr>
      </p:sp>
      <p:sp>
        <p:nvSpPr>
          <p:cNvPr id="23" name="Text 21"/>
          <p:cNvSpPr/>
          <p:nvPr/>
        </p:nvSpPr>
        <p:spPr>
          <a:xfrm>
            <a:off x="548640" y="50840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1005840" y="4927238"/>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Set up a simple internal point of contact or FAQ for project questions</a:t>
            </a:r>
            <a:endParaRPr lang="en-US" sz="1250" dirty="0"/>
          </a:p>
        </p:txBody>
      </p:sp>
      <p:sp>
        <p:nvSpPr>
          <p:cNvPr id="25" name="Shape 23"/>
          <p:cNvSpPr/>
          <p:nvPr/>
        </p:nvSpPr>
        <p:spPr>
          <a:xfrm>
            <a:off x="548640" y="5660136"/>
            <a:ext cx="292608" cy="292608"/>
          </a:xfrm>
          <a:prstGeom prst="ellipse">
            <a:avLst/>
          </a:prstGeom>
          <a:solidFill>
            <a:srgbClr val="1F3B2E"/>
          </a:solidFill>
          <a:ln/>
        </p:spPr>
      </p:sp>
      <p:sp>
        <p:nvSpPr>
          <p:cNvPr id="26" name="Text 24"/>
          <p:cNvSpPr/>
          <p:nvPr/>
        </p:nvSpPr>
        <p:spPr>
          <a:xfrm>
            <a:off x="548640" y="56601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7" name="Text 25"/>
          <p:cNvSpPr/>
          <p:nvPr/>
        </p:nvSpPr>
        <p:spPr>
          <a:xfrm>
            <a:off x="1005840" y="5503310"/>
            <a:ext cx="10607040" cy="576072"/>
          </a:xfrm>
          <a:prstGeom prst="rect">
            <a:avLst/>
          </a:prstGeom>
          <a:noFill/>
          <a:ln/>
        </p:spPr>
        <p:txBody>
          <a:bodyPr wrap="square" lIns="0" tIns="0" rIns="0" bIns="0" rtlCol="0" anchor="ctr"/>
          <a:lstStyle/>
          <a:p>
            <a:pPr marL="0" indent="0">
              <a:lnSpc>
                <a:spcPct val="115000"/>
              </a:lnSpc>
              <a:buNone/>
            </a:pPr>
            <a:r>
              <a:rPr lang="en-US" sz="1250" dirty="0">
                <a:solidFill>
                  <a:srgbClr val="2B2B2B"/>
                </a:solidFill>
                <a:latin typeface="Calibri" pitchFamily="34" charset="0"/>
                <a:ea typeface="Calibri" pitchFamily="34" charset="-122"/>
                <a:cs typeface="Calibri" pitchFamily="34" charset="-120"/>
              </a:rPr>
              <a:t>Involve HR early to align roles, expectations and any job description changes</a:t>
            </a:r>
            <a:endParaRPr lang="en-US" sz="1250" dirty="0"/>
          </a:p>
        </p:txBody>
      </p:sp>
      <p:sp>
        <p:nvSpPr>
          <p:cNvPr id="28" name="Text 2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29" name="Text 2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23</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Immediate Next Steps (1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  |  What happens right after this meeting</a:t>
            </a:r>
            <a:endParaRPr lang="en-US" sz="1250" dirty="0">
              <a:solidFill>
                <a:schemeClr val="accent1"/>
              </a:solidFill>
            </a:endParaRPr>
          </a:p>
        </p:txBody>
      </p:sp>
      <p:graphicFrame>
        <p:nvGraphicFramePr>
          <p:cNvPr id="27" name="Table 0"/>
          <p:cNvGraphicFramePr>
            <a:graphicFrameLocks noGrp="1"/>
          </p:cNvGraphicFramePr>
          <p:nvPr>
            <p:extLst>
              <p:ext uri="{D42A27DB-BD31-4B8C-83A1-F6EECF244321}">
                <p14:modId xmlns:p14="http://schemas.microsoft.com/office/powerpoint/2010/main" val="2926611609"/>
              </p:ext>
            </p:extLst>
          </p:nvPr>
        </p:nvGraphicFramePr>
        <p:xfrm>
          <a:off x="548640" y="1463039"/>
          <a:ext cx="11064240" cy="3678303"/>
        </p:xfrm>
        <a:graphic>
          <a:graphicData uri="http://schemas.openxmlformats.org/drawingml/2006/table">
            <a:tbl>
              <a:tblPr/>
              <a:tblGrid>
                <a:gridCol w="457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628933">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What It Involves</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609874">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Detailed Process Study</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Prudence to study Triple-C's farm and finance processes end-to-end, on-site and remotely.</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Prudence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9874">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Current Process Review</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Document how feed, health, breeding and mortality are tracked today, at each farm.</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Joint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609874">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Current Reporting Structure Review</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Review existing reports and MIS: who receives what, and how often.</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Joint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9874">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Roles Review</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Confirm each PMT and farm member's role and time commitment for the project.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Triple-C</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609874">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Finalise Business Process Study Schedule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Agree dates for farm visits and stakeholder interviews.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Joint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789920" cy="594360"/>
          </a:xfrm>
          <a:prstGeom prst="rect">
            <a:avLst/>
          </a:prstGeom>
          <a:noFill/>
          <a:ln/>
        </p:spPr>
        <p:txBody>
          <a:bodyPr wrap="square" lIns="0" tIns="0" rIns="0" bIns="0" rtlCol="0" anchor="ctr"/>
          <a:lstStyle/>
          <a:p>
            <a:pPr marL="0" indent="0">
              <a:buNone/>
            </a:pPr>
            <a:r>
              <a:rPr lang="en-US" sz="2400" b="1" dirty="0">
                <a:solidFill>
                  <a:srgbClr val="1F3B2E"/>
                </a:solidFill>
                <a:latin typeface="Cambria" pitchFamily="34" charset="0"/>
                <a:ea typeface="Cambria" pitchFamily="34" charset="-122"/>
                <a:cs typeface="Cambria" pitchFamily="34" charset="-120"/>
              </a:rPr>
              <a:t>Immediate Next Steps (2 of 2)</a:t>
            </a:r>
            <a:endParaRPr lang="en-US" sz="2400" dirty="0"/>
          </a:p>
        </p:txBody>
      </p:sp>
      <p:sp>
        <p:nvSpPr>
          <p:cNvPr id="3" name="Text 1"/>
          <p:cNvSpPr/>
          <p:nvPr/>
        </p:nvSpPr>
        <p:spPr>
          <a:xfrm>
            <a:off x="548640" y="914400"/>
            <a:ext cx="9144000" cy="292608"/>
          </a:xfrm>
          <a:prstGeom prst="rect">
            <a:avLst/>
          </a:prstGeom>
          <a:noFill/>
          <a:ln/>
        </p:spPr>
        <p:txBody>
          <a:bodyPr wrap="square" lIns="0" tIns="0" rIns="0" bIns="0" rtlCol="0" anchor="ctr"/>
          <a:lstStyle/>
          <a:p>
            <a:pPr marL="0" indent="0">
              <a:buNone/>
            </a:pPr>
            <a:r>
              <a:rPr lang="en-US" sz="1250" i="1" dirty="0">
                <a:solidFill>
                  <a:schemeClr val="accent1"/>
                </a:solidFill>
                <a:latin typeface="Calibri" pitchFamily="34" charset="0"/>
                <a:ea typeface="Calibri" pitchFamily="34" charset="-122"/>
                <a:cs typeface="Calibri" pitchFamily="34" charset="-120"/>
              </a:rPr>
              <a:t>Prudence Consulting</a:t>
            </a:r>
            <a:endParaRPr lang="en-US" sz="1250" dirty="0">
              <a:solidFill>
                <a:schemeClr val="accent1"/>
              </a:solidFill>
            </a:endParaRPr>
          </a:p>
        </p:txBody>
      </p:sp>
      <p:graphicFrame>
        <p:nvGraphicFramePr>
          <p:cNvPr id="28" name="Table 0"/>
          <p:cNvGraphicFramePr>
            <a:graphicFrameLocks noGrp="1"/>
          </p:cNvGraphicFramePr>
          <p:nvPr>
            <p:extLst>
              <p:ext uri="{D42A27DB-BD31-4B8C-83A1-F6EECF244321}">
                <p14:modId xmlns:p14="http://schemas.microsoft.com/office/powerpoint/2010/main" val="2026283935"/>
              </p:ext>
            </p:extLst>
          </p:nvPr>
        </p:nvGraphicFramePr>
        <p:xfrm>
          <a:off x="548640" y="1463039"/>
          <a:ext cx="11064240" cy="3341875"/>
        </p:xfrm>
        <a:graphic>
          <a:graphicData uri="http://schemas.openxmlformats.org/drawingml/2006/table">
            <a:tbl>
              <a:tblPr/>
              <a:tblGrid>
                <a:gridCol w="457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90141">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What It Involves</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1F3B2E"/>
                    </a:solidFill>
                  </a:tcPr>
                </a:tc>
                <a:extLst>
                  <a:ext uri="{0D108BD9-81ED-4DB2-BD59-A6C34878D82A}">
                    <a16:rowId xmlns:a16="http://schemas.microsoft.com/office/drawing/2014/main" val="10000"/>
                  </a:ext>
                </a:extLst>
              </a:tr>
              <a:tr h="47528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Data Import Templates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NAVFarm-format templates to be shared with Triple-C for master and historical data.</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Prudence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28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Current Input Documents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Collate existing Excel sheets, data cards, log books and registers used across farms.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Triple-C</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47528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Master Data Formats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Confirm breed, location, item and animal register formats ahead of the Business Process Study.</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Joint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28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Farm Site Visits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Prudence team to visit farms to observe day-to-day operations first-hand.</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Prudence</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47528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IT &amp; Infrastructure Readiness Check</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Confirm devices, connectivity and offline data capture needs at each farm.</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Triple-C</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289">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Confirm Change Request Process</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Agree the formal Change Request process and pricing before Blueprint sign-off.</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tc>
                  <a:txBody>
                    <a:bodyPr/>
                    <a:lstStyle/>
                    <a:p>
                      <a:pPr marL="0" indent="0" algn="l">
                        <a:buNone/>
                      </a:pPr>
                      <a:r>
                        <a:rPr lang="en-US" sz="1100" dirty="0">
                          <a:solidFill>
                            <a:srgbClr val="2B2B2B"/>
                          </a:solidFill>
                          <a:latin typeface="Calibri" pitchFamily="34" charset="0"/>
                          <a:ea typeface="Calibri" pitchFamily="34" charset="-122"/>
                          <a:cs typeface="Calibri" pitchFamily="34" charset="-120"/>
                        </a:rPr>
                        <a:t>Joint</a:t>
                      </a:r>
                      <a:endParaRPr lang="en-US" sz="1100" dirty="0">
                        <a:latin typeface="Calibri" charset="0"/>
                        <a:ea typeface="Calibri" charset="0"/>
                        <a:cs typeface="Calibri" charset="0"/>
                      </a:endParaRPr>
                    </a:p>
                  </a:txBody>
                  <a:tcPr marL="76200" marR="76200" marT="38100" marB="38100" anchor="ctr">
                    <a:lnL w="6350" cap="flat" cmpd="sng" algn="ctr">
                      <a:solidFill>
                        <a:srgbClr val="D9D9D4"/>
                      </a:solidFill>
                      <a:prstDash val="solid"/>
                      <a:round/>
                      <a:headEnd type="none" w="med" len="med"/>
                      <a:tailEnd type="none" w="med" len="med"/>
                    </a:lnL>
                    <a:lnR w="6350" cap="flat" cmpd="sng" algn="ctr">
                      <a:solidFill>
                        <a:srgbClr val="D9D9D4"/>
                      </a:solidFill>
                      <a:prstDash val="solid"/>
                      <a:round/>
                      <a:headEnd type="none" w="med" len="med"/>
                      <a:tailEnd type="none" w="med" len="med"/>
                    </a:lnR>
                    <a:lnT w="6350" cap="flat" cmpd="sng" algn="ctr">
                      <a:solidFill>
                        <a:srgbClr val="D9D9D4"/>
                      </a:solidFill>
                      <a:prstDash val="solid"/>
                      <a:round/>
                      <a:headEnd type="none" w="med" len="med"/>
                      <a:tailEnd type="none" w="med" len="med"/>
                    </a:lnT>
                    <a:lnB w="6350" cap="flat" cmpd="sng" algn="ctr">
                      <a:solidFill>
                        <a:srgbClr val="D9D9D4"/>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E6E6E"/>
                </a:solidFill>
                <a:latin typeface="Calibri" pitchFamily="34" charset="0"/>
                <a:ea typeface="Calibri" pitchFamily="34" charset="-122"/>
                <a:cs typeface="Calibri" pitchFamily="34" charset="-120"/>
              </a:rPr>
              <a:t>Triple-C  |  NAVFARM Implementation  -  PMT Kick-Off Meeting</a:t>
            </a:r>
            <a:endParaRPr lang="en-US" sz="900" dirty="0"/>
          </a:p>
        </p:txBody>
      </p:sp>
      <p:sp>
        <p:nvSpPr>
          <p:cNvPr id="6"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E6E6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1F3B2E"/>
        </a:solidFill>
        <a:effectLst/>
      </p:bgPr>
    </p:bg>
    <p:spTree>
      <p:nvGrpSpPr>
        <p:cNvPr id="1" name=""/>
        <p:cNvGrpSpPr/>
        <p:nvPr/>
      </p:nvGrpSpPr>
      <p:grpSpPr>
        <a:xfrm>
          <a:off x="0" y="0"/>
          <a:ext cx="0" cy="0"/>
          <a:chOff x="0" y="0"/>
          <a:chExt cx="0" cy="0"/>
        </a:xfrm>
      </p:grpSpPr>
      <p:sp>
        <p:nvSpPr>
          <p:cNvPr id="2" name="Text 0"/>
          <p:cNvSpPr/>
          <p:nvPr/>
        </p:nvSpPr>
        <p:spPr>
          <a:xfrm>
            <a:off x="822960" y="2468880"/>
            <a:ext cx="1051560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Any Other Business</a:t>
            </a:r>
            <a:endParaRPr lang="en-US" sz="3400" dirty="0"/>
          </a:p>
        </p:txBody>
      </p:sp>
      <p:sp>
        <p:nvSpPr>
          <p:cNvPr id="3" name="Text 1"/>
          <p:cNvSpPr/>
          <p:nvPr/>
        </p:nvSpPr>
        <p:spPr>
          <a:xfrm>
            <a:off x="822960" y="3291840"/>
            <a:ext cx="10515600" cy="457200"/>
          </a:xfrm>
          <a:prstGeom prst="rect">
            <a:avLst/>
          </a:prstGeom>
          <a:noFill/>
          <a:ln/>
        </p:spPr>
        <p:txBody>
          <a:bodyPr wrap="square" lIns="0" tIns="0" rIns="0" bIns="0" rtlCol="0" anchor="ctr"/>
          <a:lstStyle/>
          <a:p>
            <a:pPr marL="0" indent="0">
              <a:buNone/>
            </a:pPr>
            <a:r>
              <a:rPr lang="en-US" sz="1500" dirty="0">
                <a:solidFill>
                  <a:srgbClr val="CFE0D2"/>
                </a:solidFill>
                <a:latin typeface="Calibri" pitchFamily="34" charset="0"/>
                <a:ea typeface="Calibri" pitchFamily="34" charset="-122"/>
                <a:cs typeface="Calibri" pitchFamily="34" charset="-120"/>
              </a:rPr>
              <a:t>Thank you - next PMT meeting to be confirmed.</a:t>
            </a:r>
            <a:endParaRPr lang="en-US" sz="1500" dirty="0"/>
          </a:p>
        </p:txBody>
      </p:sp>
      <p:sp>
        <p:nvSpPr>
          <p:cNvPr id="4" name="Text 2"/>
          <p:cNvSpPr/>
          <p:nvPr/>
        </p:nvSpPr>
        <p:spPr>
          <a:xfrm>
            <a:off x="822960" y="4023360"/>
            <a:ext cx="9144000" cy="365760"/>
          </a:xfrm>
          <a:prstGeom prst="rect">
            <a:avLst/>
          </a:prstGeom>
          <a:noFill/>
          <a:ln/>
        </p:spPr>
        <p:txBody>
          <a:bodyPr wrap="square" lIns="0" tIns="0" rIns="0" bIns="0" rtlCol="0" anchor="ctr"/>
          <a:lstStyle/>
          <a:p>
            <a:pPr marL="0" indent="0">
              <a:buNone/>
            </a:pPr>
            <a:r>
              <a:rPr lang="en-US" sz="1300" b="1" dirty="0">
                <a:solidFill>
                  <a:srgbClr val="CFE0D2"/>
                </a:solidFill>
                <a:latin typeface="Calibri" pitchFamily="34" charset="0"/>
                <a:ea typeface="Calibri" pitchFamily="34" charset="-122"/>
                <a:cs typeface="Calibri" pitchFamily="34" charset="-120"/>
              </a:rPr>
              <a:t>Project Manager (Prudence):  </a:t>
            </a:r>
            <a:r>
              <a:rPr lang="en-US" sz="1300" dirty="0">
                <a:solidFill>
                  <a:srgbClr val="FFFFFF"/>
                </a:solidFill>
                <a:latin typeface="Calibri" pitchFamily="34" charset="0"/>
                <a:ea typeface="Calibri" pitchFamily="34" charset="-122"/>
                <a:cs typeface="Calibri" pitchFamily="34" charset="-120"/>
              </a:rPr>
              <a:t>Paul Young  |  paul.young@navfarm.com</a:t>
            </a:r>
            <a:endParaRPr lang="en-US" sz="1300" dirty="0"/>
          </a:p>
        </p:txBody>
      </p:sp>
      <p:sp>
        <p:nvSpPr>
          <p:cNvPr id="5" name="Text 3"/>
          <p:cNvSpPr/>
          <p:nvPr/>
        </p:nvSpPr>
        <p:spPr>
          <a:xfrm>
            <a:off x="822960" y="4389120"/>
            <a:ext cx="9144000" cy="365760"/>
          </a:xfrm>
          <a:prstGeom prst="rect">
            <a:avLst/>
          </a:prstGeom>
          <a:noFill/>
          <a:ln/>
        </p:spPr>
        <p:txBody>
          <a:bodyPr wrap="square" lIns="0" tIns="0" rIns="0" bIns="0" rtlCol="0" anchor="ctr"/>
          <a:lstStyle/>
          <a:p>
            <a:pPr marL="0" indent="0">
              <a:buNone/>
            </a:pPr>
            <a:r>
              <a:rPr lang="en-US" sz="1300" b="1" dirty="0">
                <a:solidFill>
                  <a:srgbClr val="CFE0D2"/>
                </a:solidFill>
                <a:latin typeface="Calibri" pitchFamily="34" charset="0"/>
                <a:ea typeface="Calibri" pitchFamily="34" charset="-122"/>
                <a:cs typeface="Calibri" pitchFamily="34" charset="-120"/>
              </a:rPr>
              <a:t>PMT Chairperson (Triple-C):  </a:t>
            </a:r>
            <a:r>
              <a:rPr lang="en-US" sz="1300" dirty="0">
                <a:solidFill>
                  <a:srgbClr val="FFFFFF"/>
                </a:solidFill>
                <a:latin typeface="Calibri" pitchFamily="34" charset="0"/>
                <a:ea typeface="Calibri" pitchFamily="34" charset="-122"/>
                <a:cs typeface="Calibri" pitchFamily="34" charset="-120"/>
              </a:rPr>
              <a:t>Mandy Murebwa, Group Finance Director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556EAEE72D7747B3D0355DABB429F3" ma:contentTypeVersion="5" ma:contentTypeDescription="Create a new document." ma:contentTypeScope="" ma:versionID="510511ce609cd22d073012b858703f23">
  <xsd:schema xmlns:xsd="http://www.w3.org/2001/XMLSchema" xmlns:xs="http://www.w3.org/2001/XMLSchema" xmlns:p="http://schemas.microsoft.com/office/2006/metadata/properties" xmlns:ns2="7146d502-05f5-4fb7-b414-24f33b760985" targetNamespace="http://schemas.microsoft.com/office/2006/metadata/properties" ma:root="true" ma:fieldsID="dff61d6fb0c51ac950ba6c8675b4ac1a" ns2:_="">
    <xsd:import namespace="7146d502-05f5-4fb7-b414-24f33b7609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ReviewB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46d502-05f5-4fb7-b414-24f33b7609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ReviewBy" ma:index="11" nillable="true" ma:displayName="Review By" ma:format="Dropdown" ma:list="UserInfo" ma:SharePointGroup="0" ma:internalName="Review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viewBy xmlns="7146d502-05f5-4fb7-b414-24f33b760985">
      <UserInfo>
        <DisplayName/>
        <AccountId xsi:nil="true"/>
        <AccountType/>
      </UserInfo>
    </ReviewBy>
  </documentManagement>
</p:properties>
</file>

<file path=customXml/itemProps1.xml><?xml version="1.0" encoding="utf-8"?>
<ds:datastoreItem xmlns:ds="http://schemas.openxmlformats.org/officeDocument/2006/customXml" ds:itemID="{BB9DB047-DA1D-403F-8704-3628D768ADDA}"/>
</file>

<file path=customXml/itemProps2.xml><?xml version="1.0" encoding="utf-8"?>
<ds:datastoreItem xmlns:ds="http://schemas.openxmlformats.org/officeDocument/2006/customXml" ds:itemID="{D03D6C8D-EBC0-45D7-B797-65E1BC762889}"/>
</file>

<file path=customXml/itemProps3.xml><?xml version="1.0" encoding="utf-8"?>
<ds:datastoreItem xmlns:ds="http://schemas.openxmlformats.org/officeDocument/2006/customXml" ds:itemID="{5103A73B-DF97-4AF8-B467-A499E88999C7}"/>
</file>

<file path=docProps/app.xml><?xml version="1.0" encoding="utf-8"?>
<Properties xmlns="http://schemas.openxmlformats.org/officeDocument/2006/extended-properties" xmlns:vt="http://schemas.openxmlformats.org/officeDocument/2006/docPropsVTypes">
  <TotalTime>1801</TotalTime>
  <Words>3641</Words>
  <Application>Microsoft Macintosh PowerPoint</Application>
  <PresentationFormat>Widescreen</PresentationFormat>
  <Paragraphs>747</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Rishab Bhardwaj</cp:lastModifiedBy>
  <cp:revision>54</cp:revision>
  <dcterms:created xsi:type="dcterms:W3CDTF">2026-08-01T16:30:23Z</dcterms:created>
  <dcterms:modified xsi:type="dcterms:W3CDTF">2026-08-07T07:05:24Z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0x010100F4556EAEE72D7747B3D0355DABB429F3</vt:lpwstr>
  </property>
</Properties>
</file>